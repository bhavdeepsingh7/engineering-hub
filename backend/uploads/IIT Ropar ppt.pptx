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11"/>
    <p:restoredTop sz="94610"/>
  </p:normalViewPr>
  <p:slideViewPr>
    <p:cSldViewPr snapToGrid="0" snapToObjects="1">
      <p:cViewPr varScale="1">
        <p:scale>
          <a:sx n="101" d="100"/>
          <a:sy n="101" d="100"/>
        </p:scale>
        <p:origin x="-1158"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FCC71E07-AC81-4F17-A496-8BAF645A451F}" type="datetimeFigureOut">
              <a:rPr lang="en-IN" smtClean="0"/>
              <a:t>27-03-2026</a:t>
            </a:fld>
            <a:endParaRPr lang="en-IN"/>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37A5DF6F-23E5-4EEF-A097-BED2F29D257D}" type="slidenum">
              <a:rPr lang="en-IN" smtClean="0"/>
              <a:t>‹#›</a:t>
            </a:fld>
            <a:endParaRPr lang="en-IN"/>
          </a:p>
        </p:txBody>
      </p:sp>
    </p:spTree>
    <p:extLst>
      <p:ext uri="{BB962C8B-B14F-4D97-AF65-F5344CB8AC3E}">
        <p14:creationId xmlns:p14="http://schemas.microsoft.com/office/powerpoint/2010/main" val="3849940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841732" cy="5143500"/>
          </a:xfrm>
          <a:prstGeom prst="rect">
            <a:avLst/>
          </a:prstGeom>
          <a:solidFill>
            <a:srgbClr val="1B3D2F"/>
          </a:solidFill>
          <a:ln w="12700">
            <a:solidFill>
              <a:srgbClr val="1B3D2F"/>
            </a:solidFill>
            <a:prstDash val="solid"/>
          </a:ln>
        </p:spPr>
      </p:sp>
      <p:sp>
        <p:nvSpPr>
          <p:cNvPr id="4" name="Shape 2"/>
          <p:cNvSpPr/>
          <p:nvPr/>
        </p:nvSpPr>
        <p:spPr>
          <a:xfrm>
            <a:off x="231842" y="249548"/>
            <a:ext cx="384049" cy="267973"/>
          </a:xfrm>
          <a:prstGeom prst="rect">
            <a:avLst/>
          </a:prstGeom>
          <a:solidFill>
            <a:srgbClr val="FFFFFF"/>
          </a:solidFill>
          <a:ln w="12700">
            <a:solidFill>
              <a:srgbClr val="FFFFFF"/>
            </a:solidFill>
            <a:prstDash val="solid"/>
          </a:ln>
        </p:spPr>
      </p:sp>
      <p:sp>
        <p:nvSpPr>
          <p:cNvPr id="5" name="Text 3"/>
          <p:cNvSpPr/>
          <p:nvPr/>
        </p:nvSpPr>
        <p:spPr>
          <a:xfrm>
            <a:off x="231842" y="249548"/>
            <a:ext cx="382549" cy="267974"/>
          </a:xfrm>
          <a:prstGeom prst="rect">
            <a:avLst/>
          </a:prstGeom>
          <a:noFill/>
          <a:ln/>
        </p:spPr>
        <p:txBody>
          <a:bodyPr wrap="square" lIns="0" tIns="0" rIns="0" bIns="0" rtlCol="0" anchor="ctr"/>
          <a:lstStyle/>
          <a:p>
            <a:pPr marL="0" indent="0" algn="ctr">
              <a:buNone/>
            </a:pPr>
            <a:r>
              <a:rPr lang="en-US" sz="1600" b="1" dirty="0">
                <a:solidFill>
                  <a:srgbClr val="1B3D2F"/>
                </a:solidFill>
                <a:latin typeface="Georgia" pitchFamily="34" charset="0"/>
                <a:ea typeface="Georgia" pitchFamily="34" charset="-122"/>
                <a:cs typeface="Georgia" pitchFamily="34" charset="-120"/>
              </a:rPr>
              <a:t>01</a:t>
            </a:r>
            <a:endParaRPr lang="en-US" sz="1600" dirty="0"/>
          </a:p>
        </p:txBody>
      </p:sp>
      <p:sp>
        <p:nvSpPr>
          <p:cNvPr id="6" name="Text 4"/>
          <p:cNvSpPr/>
          <p:nvPr/>
        </p:nvSpPr>
        <p:spPr>
          <a:xfrm rot="16200000">
            <a:off x="-548501" y="2580227"/>
            <a:ext cx="1941736" cy="384048"/>
          </a:xfrm>
          <a:prstGeom prst="rect">
            <a:avLst/>
          </a:prstGeom>
          <a:noFill/>
          <a:ln/>
        </p:spPr>
        <p:txBody>
          <a:bodyPr wrap="square" rtlCol="0" anchor="ctr"/>
          <a:lstStyle/>
          <a:p>
            <a:pPr marL="0" indent="0" algn="ctr">
              <a:buNone/>
            </a:pPr>
            <a:r>
              <a:rPr lang="en-US" sz="900" b="1" kern="0" spc="400" dirty="0" smtClean="0">
                <a:solidFill>
                  <a:srgbClr val="FFFFFF">
                    <a:alpha val="65000"/>
                  </a:srgbClr>
                </a:solidFill>
                <a:latin typeface="Calibri" pitchFamily="34" charset="0"/>
                <a:ea typeface="Calibri" pitchFamily="34" charset="-122"/>
                <a:cs typeface="Calibri" pitchFamily="34" charset="-120"/>
              </a:rPr>
              <a:t>AI4HEALTHCARE</a:t>
            </a:r>
            <a:endParaRPr lang="en-US" sz="900" dirty="0"/>
          </a:p>
        </p:txBody>
      </p:sp>
      <p:sp>
        <p:nvSpPr>
          <p:cNvPr id="7" name="Text 5"/>
          <p:cNvSpPr/>
          <p:nvPr/>
        </p:nvSpPr>
        <p:spPr>
          <a:xfrm>
            <a:off x="3002" y="4535424"/>
            <a:ext cx="838730" cy="182880"/>
          </a:xfrm>
          <a:prstGeom prst="rect">
            <a:avLst/>
          </a:prstGeom>
          <a:noFill/>
          <a:ln/>
        </p:spPr>
        <p:txBody>
          <a:bodyPr wrap="square" lIns="0" tIns="0" rIns="0" bIns="0" rtlCol="0" anchor="ctr"/>
          <a:lstStyle/>
          <a:p>
            <a:pPr marL="0" indent="0" algn="ctr">
              <a:buNone/>
            </a:pPr>
            <a:r>
              <a:rPr lang="en-US" sz="750" b="1" dirty="0">
                <a:solidFill>
                  <a:srgbClr val="FFFFFF">
                    <a:alpha val="70000"/>
                  </a:srgbClr>
                </a:solidFill>
                <a:latin typeface="Georgia" pitchFamily="34" charset="0"/>
                <a:ea typeface="Georgia" pitchFamily="34" charset="-122"/>
                <a:cs typeface="Georgia" pitchFamily="34" charset="-120"/>
              </a:rPr>
              <a:t>PeaceOfCode</a:t>
            </a:r>
            <a:endParaRPr lang="en-US" sz="750" dirty="0"/>
          </a:p>
        </p:txBody>
      </p:sp>
      <p:sp>
        <p:nvSpPr>
          <p:cNvPr id="8" name="Text 6"/>
          <p:cNvSpPr/>
          <p:nvPr/>
        </p:nvSpPr>
        <p:spPr>
          <a:xfrm>
            <a:off x="36576" y="4727448"/>
            <a:ext cx="805156" cy="164592"/>
          </a:xfrm>
          <a:prstGeom prst="rect">
            <a:avLst/>
          </a:prstGeom>
          <a:noFill/>
          <a:ln/>
        </p:spPr>
        <p:txBody>
          <a:bodyPr wrap="square" lIns="0" tIns="0" rIns="0" bIns="0" rtlCol="0" anchor="ctr"/>
          <a:lstStyle/>
          <a:p>
            <a:pPr marL="0" indent="0" algn="ctr">
              <a:buNone/>
            </a:pPr>
            <a:r>
              <a:rPr lang="en-US" sz="750" dirty="0">
                <a:solidFill>
                  <a:srgbClr val="FFFFFF">
                    <a:alpha val="55000"/>
                  </a:srgbClr>
                </a:solidFill>
                <a:latin typeface="Georgia" pitchFamily="34" charset="0"/>
                <a:ea typeface="Georgia" pitchFamily="34" charset="-122"/>
                <a:cs typeface="Georgia" pitchFamily="34" charset="-120"/>
              </a:rPr>
              <a:t>2026</a:t>
            </a:r>
            <a:endParaRPr lang="en-US" sz="750" dirty="0"/>
          </a:p>
        </p:txBody>
      </p:sp>
      <p:sp>
        <p:nvSpPr>
          <p:cNvPr id="9" name="Text 7"/>
          <p:cNvSpPr/>
          <p:nvPr/>
        </p:nvSpPr>
        <p:spPr>
          <a:xfrm>
            <a:off x="1020888" y="192024"/>
            <a:ext cx="1314072" cy="265176"/>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The Problem</a:t>
            </a:r>
            <a:endParaRPr lang="en-US" sz="1500" dirty="0"/>
          </a:p>
        </p:txBody>
      </p:sp>
      <p:sp>
        <p:nvSpPr>
          <p:cNvPr id="10" name="Text 8"/>
          <p:cNvSpPr/>
          <p:nvPr/>
        </p:nvSpPr>
        <p:spPr>
          <a:xfrm>
            <a:off x="6766560" y="192024"/>
            <a:ext cx="2029968" cy="201168"/>
          </a:xfrm>
          <a:prstGeom prst="rect">
            <a:avLst/>
          </a:prstGeom>
          <a:noFill/>
          <a:ln/>
        </p:spPr>
        <p:txBody>
          <a:bodyPr wrap="square" lIns="0" tIns="0" rIns="0" bIns="0" rtlCol="0" anchor="ctr"/>
          <a:lstStyle/>
          <a:p>
            <a:pPr marL="0" indent="0" algn="r">
              <a:buNone/>
            </a:pPr>
            <a:r>
              <a:rPr lang="en-US" sz="850" b="1" dirty="0">
                <a:solidFill>
                  <a:srgbClr val="2A6048"/>
                </a:solidFill>
                <a:latin typeface="Calibri" pitchFamily="34" charset="0"/>
                <a:ea typeface="Calibri" pitchFamily="34" charset="-122"/>
                <a:cs typeface="Calibri" pitchFamily="34" charset="-120"/>
              </a:rPr>
              <a:t>PeaceOfCode 2026</a:t>
            </a:r>
            <a:endParaRPr lang="en-US" sz="850" dirty="0"/>
          </a:p>
        </p:txBody>
      </p:sp>
      <p:sp>
        <p:nvSpPr>
          <p:cNvPr id="11" name="Text 9"/>
          <p:cNvSpPr/>
          <p:nvPr/>
        </p:nvSpPr>
        <p:spPr>
          <a:xfrm>
            <a:off x="7357588" y="402336"/>
            <a:ext cx="1438939" cy="164592"/>
          </a:xfrm>
          <a:prstGeom prst="rect">
            <a:avLst/>
          </a:prstGeom>
          <a:noFill/>
          <a:ln/>
        </p:spPr>
        <p:txBody>
          <a:bodyPr wrap="square" lIns="0" tIns="0" rIns="0" bIns="0" rtlCol="0" anchor="ctr"/>
          <a:lstStyle/>
          <a:p>
            <a:pPr marL="0" indent="0" algn="r">
              <a:buNone/>
            </a:pPr>
            <a:r>
              <a:rPr lang="en-US" sz="750" dirty="0">
                <a:solidFill>
                  <a:schemeClr val="bg1">
                    <a:lumMod val="50000"/>
                  </a:schemeClr>
                </a:solidFill>
                <a:latin typeface="Calibri" pitchFamily="34" charset="0"/>
                <a:ea typeface="Calibri" pitchFamily="34" charset="-122"/>
                <a:cs typeface="Calibri" pitchFamily="34" charset="-120"/>
              </a:rPr>
              <a:t>IIT Ropar  ·  AI Wellness Hackathon</a:t>
            </a:r>
            <a:endParaRPr lang="en-US" sz="750" dirty="0">
              <a:solidFill>
                <a:schemeClr val="bg1">
                  <a:lumMod val="50000"/>
                </a:schemeClr>
              </a:solidFill>
            </a:endParaRPr>
          </a:p>
        </p:txBody>
      </p:sp>
      <p:sp>
        <p:nvSpPr>
          <p:cNvPr id="13" name="Text 11"/>
          <p:cNvSpPr/>
          <p:nvPr/>
        </p:nvSpPr>
        <p:spPr>
          <a:xfrm>
            <a:off x="1020888" y="749808"/>
            <a:ext cx="900000" cy="164592"/>
          </a:xfrm>
          <a:prstGeom prst="rect">
            <a:avLst/>
          </a:prstGeom>
          <a:noFill/>
          <a:ln/>
        </p:spPr>
        <p:txBody>
          <a:bodyPr wrap="square" lIns="0" tIns="0" rIns="0" bIns="0" rtlCol="0" anchor="ctr"/>
          <a:lstStyle/>
          <a:p>
            <a:pPr marL="0" indent="0">
              <a:buNone/>
            </a:pPr>
            <a:r>
              <a:rPr lang="en-US" sz="1000" b="1" kern="0" spc="180" dirty="0">
                <a:solidFill>
                  <a:srgbClr val="2A6048"/>
                </a:solidFill>
                <a:latin typeface="Calibri" pitchFamily="34" charset="0"/>
                <a:ea typeface="Calibri" pitchFamily="34" charset="-122"/>
                <a:cs typeface="Calibri" pitchFamily="34" charset="-120"/>
              </a:rPr>
              <a:t>TEAM NAME</a:t>
            </a:r>
            <a:endParaRPr lang="en-US" sz="1000" dirty="0"/>
          </a:p>
        </p:txBody>
      </p:sp>
      <p:sp>
        <p:nvSpPr>
          <p:cNvPr id="14" name="Shape 12"/>
          <p:cNvSpPr/>
          <p:nvPr/>
        </p:nvSpPr>
        <p:spPr>
          <a:xfrm>
            <a:off x="1020888" y="1150446"/>
            <a:ext cx="1800000" cy="10800"/>
          </a:xfrm>
          <a:prstGeom prst="rect">
            <a:avLst/>
          </a:prstGeom>
          <a:solidFill>
            <a:srgbClr val="DDD5C8"/>
          </a:solidFill>
          <a:ln w="12700">
            <a:solidFill>
              <a:srgbClr val="DDD5C8"/>
            </a:solidFill>
            <a:prstDash val="solid"/>
          </a:ln>
        </p:spPr>
      </p:sp>
      <p:sp>
        <p:nvSpPr>
          <p:cNvPr id="15" name="Text 13"/>
          <p:cNvSpPr/>
          <p:nvPr/>
        </p:nvSpPr>
        <p:spPr>
          <a:xfrm>
            <a:off x="3263985" y="749808"/>
            <a:ext cx="2286000" cy="164592"/>
          </a:xfrm>
          <a:prstGeom prst="rect">
            <a:avLst/>
          </a:prstGeom>
          <a:noFill/>
          <a:ln/>
        </p:spPr>
        <p:txBody>
          <a:bodyPr wrap="square" lIns="0" tIns="0" rIns="0" bIns="0" rtlCol="0" anchor="ctr"/>
          <a:lstStyle/>
          <a:p>
            <a:pPr marL="0" indent="0">
              <a:buNone/>
            </a:pPr>
            <a:r>
              <a:rPr lang="en-US" sz="1000" b="1" kern="0" spc="180" dirty="0">
                <a:solidFill>
                  <a:srgbClr val="2A6048"/>
                </a:solidFill>
                <a:latin typeface="Calibri" pitchFamily="34" charset="0"/>
                <a:ea typeface="Calibri" pitchFamily="34" charset="-122"/>
                <a:cs typeface="Calibri" pitchFamily="34" charset="-120"/>
              </a:rPr>
              <a:t>TRACK</a:t>
            </a:r>
            <a:endParaRPr lang="en-US" sz="1000" dirty="0"/>
          </a:p>
        </p:txBody>
      </p:sp>
      <p:sp>
        <p:nvSpPr>
          <p:cNvPr id="16" name="Text 14"/>
          <p:cNvSpPr/>
          <p:nvPr/>
        </p:nvSpPr>
        <p:spPr>
          <a:xfrm>
            <a:off x="3263986" y="927843"/>
            <a:ext cx="1677600" cy="219456"/>
          </a:xfrm>
          <a:prstGeom prst="rect">
            <a:avLst/>
          </a:prstGeom>
          <a:noFill/>
          <a:ln/>
        </p:spPr>
        <p:txBody>
          <a:bodyPr wrap="square" lIns="0" tIns="0" rIns="0" bIns="0" rtlCol="0" anchor="ctr"/>
          <a:lstStyle/>
          <a:p>
            <a:pPr marL="0" indent="0">
              <a:buNone/>
            </a:pPr>
            <a:r>
              <a:rPr lang="en-US" sz="1050" dirty="0" smtClean="0">
                <a:solidFill>
                  <a:srgbClr val="3E3E3E"/>
                </a:solidFill>
                <a:latin typeface="Calibri" pitchFamily="34" charset="0"/>
                <a:ea typeface="Calibri" pitchFamily="34" charset="-122"/>
                <a:cs typeface="Calibri" pitchFamily="34" charset="-120"/>
              </a:rPr>
              <a:t>Healthcare </a:t>
            </a:r>
            <a:endParaRPr lang="en-US" sz="1050" dirty="0"/>
          </a:p>
        </p:txBody>
      </p:sp>
      <p:sp>
        <p:nvSpPr>
          <p:cNvPr id="17" name="Shape 15"/>
          <p:cNvSpPr/>
          <p:nvPr/>
        </p:nvSpPr>
        <p:spPr>
          <a:xfrm>
            <a:off x="3263985" y="1150446"/>
            <a:ext cx="1677600" cy="10800"/>
          </a:xfrm>
          <a:prstGeom prst="rect">
            <a:avLst/>
          </a:prstGeom>
          <a:solidFill>
            <a:srgbClr val="DDD5C8"/>
          </a:solidFill>
          <a:ln w="12700">
            <a:solidFill>
              <a:srgbClr val="DDD5C8"/>
            </a:solidFill>
            <a:prstDash val="solid"/>
          </a:ln>
        </p:spPr>
      </p:sp>
      <p:sp>
        <p:nvSpPr>
          <p:cNvPr id="18" name="Text 16"/>
          <p:cNvSpPr/>
          <p:nvPr/>
        </p:nvSpPr>
        <p:spPr>
          <a:xfrm>
            <a:off x="5385816" y="749808"/>
            <a:ext cx="997968" cy="164592"/>
          </a:xfrm>
          <a:prstGeom prst="rect">
            <a:avLst/>
          </a:prstGeom>
          <a:noFill/>
          <a:ln/>
        </p:spPr>
        <p:txBody>
          <a:bodyPr wrap="square" lIns="0" tIns="0" rIns="0" bIns="0" rtlCol="0" anchor="ctr"/>
          <a:lstStyle/>
          <a:p>
            <a:pPr marL="0" indent="0">
              <a:buNone/>
            </a:pPr>
            <a:r>
              <a:rPr lang="en-US" sz="1000" b="1" kern="0" spc="180" dirty="0">
                <a:solidFill>
                  <a:srgbClr val="2A6048"/>
                </a:solidFill>
                <a:latin typeface="Calibri" pitchFamily="34" charset="0"/>
                <a:ea typeface="Calibri" pitchFamily="34" charset="-122"/>
                <a:cs typeface="Calibri" pitchFamily="34" charset="-120"/>
              </a:rPr>
              <a:t>INSTITUTION</a:t>
            </a:r>
            <a:endParaRPr lang="en-US" sz="1000" dirty="0"/>
          </a:p>
        </p:txBody>
      </p:sp>
      <p:sp>
        <p:nvSpPr>
          <p:cNvPr id="19" name="Shape 17"/>
          <p:cNvSpPr/>
          <p:nvPr/>
        </p:nvSpPr>
        <p:spPr>
          <a:xfrm>
            <a:off x="5385816" y="1149665"/>
            <a:ext cx="3420000" cy="10973"/>
          </a:xfrm>
          <a:prstGeom prst="rect">
            <a:avLst/>
          </a:prstGeom>
          <a:solidFill>
            <a:srgbClr val="DDD5C8"/>
          </a:solidFill>
          <a:ln w="12700">
            <a:solidFill>
              <a:srgbClr val="DDD5C8"/>
            </a:solidFill>
            <a:prstDash val="solid"/>
          </a:ln>
        </p:spPr>
      </p:sp>
      <p:sp>
        <p:nvSpPr>
          <p:cNvPr id="21" name="Text 19"/>
          <p:cNvSpPr/>
          <p:nvPr/>
        </p:nvSpPr>
        <p:spPr>
          <a:xfrm>
            <a:off x="1030547" y="1241046"/>
            <a:ext cx="4572000" cy="182880"/>
          </a:xfrm>
          <a:prstGeom prst="rect">
            <a:avLst/>
          </a:prstGeom>
          <a:noFill/>
          <a:ln/>
        </p:spPr>
        <p:txBody>
          <a:bodyPr wrap="square" lIns="0" tIns="0" rIns="0" bIns="0" rtlCol="0" anchor="ctr"/>
          <a:lstStyle/>
          <a:p>
            <a:pPr marL="0" indent="0">
              <a:buNone/>
            </a:pPr>
            <a:r>
              <a:rPr lang="en-US" sz="1000" b="1" kern="0" spc="200" dirty="0">
                <a:solidFill>
                  <a:srgbClr val="2A6048"/>
                </a:solidFill>
                <a:latin typeface="Calibri" pitchFamily="34" charset="0"/>
                <a:ea typeface="Calibri" pitchFamily="34" charset="-122"/>
                <a:cs typeface="Calibri" pitchFamily="34" charset="-120"/>
              </a:rPr>
              <a:t>01  —  PROBLEM STATEMENT</a:t>
            </a:r>
            <a:endParaRPr lang="en-US" sz="1000" dirty="0"/>
          </a:p>
        </p:txBody>
      </p:sp>
      <p:sp>
        <p:nvSpPr>
          <p:cNvPr id="23" name="Shape 21"/>
          <p:cNvSpPr/>
          <p:nvPr/>
        </p:nvSpPr>
        <p:spPr>
          <a:xfrm>
            <a:off x="1030547" y="1478790"/>
            <a:ext cx="36000" cy="1188000"/>
          </a:xfrm>
          <a:prstGeom prst="rect">
            <a:avLst/>
          </a:prstGeom>
          <a:solidFill>
            <a:srgbClr val="1B3D2F"/>
          </a:solidFill>
          <a:ln w="12700">
            <a:solidFill>
              <a:srgbClr val="1B3D2F"/>
            </a:solidFill>
            <a:prstDash val="solid"/>
          </a:ln>
        </p:spPr>
      </p:sp>
      <p:sp>
        <p:nvSpPr>
          <p:cNvPr id="26" name="Shape 24"/>
          <p:cNvSpPr/>
          <p:nvPr/>
        </p:nvSpPr>
        <p:spPr>
          <a:xfrm>
            <a:off x="1178859" y="1478788"/>
            <a:ext cx="3748137" cy="1165735"/>
          </a:xfrm>
          <a:prstGeom prst="rect">
            <a:avLst/>
          </a:prstGeom>
          <a:solidFill>
            <a:srgbClr val="FBF1EE"/>
          </a:solidFill>
          <a:ln w="12700">
            <a:solidFill>
              <a:srgbClr val="E8C9BF"/>
            </a:solidFill>
            <a:prstDash val="solid"/>
          </a:ln>
          <a:effectLst>
            <a:outerShdw blurRad="101600" dist="25400" dir="8400000" algn="bl" rotWithShape="0">
              <a:srgbClr val="000000">
                <a:alpha val="7000"/>
              </a:srgbClr>
            </a:outerShdw>
          </a:effectLst>
        </p:spPr>
      </p:sp>
      <p:sp>
        <p:nvSpPr>
          <p:cNvPr id="27" name="Shape 25"/>
          <p:cNvSpPr/>
          <p:nvPr/>
        </p:nvSpPr>
        <p:spPr>
          <a:xfrm>
            <a:off x="5013587" y="1478790"/>
            <a:ext cx="36000" cy="1188000"/>
          </a:xfrm>
          <a:prstGeom prst="rect">
            <a:avLst/>
          </a:prstGeom>
          <a:solidFill>
            <a:srgbClr val="B84422"/>
          </a:solidFill>
          <a:ln w="12700">
            <a:solidFill>
              <a:srgbClr val="B84422"/>
            </a:solidFill>
            <a:prstDash val="solid"/>
          </a:ln>
        </p:spPr>
      </p:sp>
      <p:sp>
        <p:nvSpPr>
          <p:cNvPr id="28" name="Text 26"/>
          <p:cNvSpPr/>
          <p:nvPr/>
        </p:nvSpPr>
        <p:spPr>
          <a:xfrm>
            <a:off x="1315424" y="1559216"/>
            <a:ext cx="3182112" cy="201168"/>
          </a:xfrm>
          <a:prstGeom prst="rect">
            <a:avLst/>
          </a:prstGeom>
          <a:noFill/>
          <a:ln/>
        </p:spPr>
        <p:txBody>
          <a:bodyPr wrap="square" lIns="0" tIns="0" rIns="0" bIns="0" rtlCol="0" anchor="ctr"/>
          <a:lstStyle/>
          <a:p>
            <a:pPr marL="0" indent="0">
              <a:buNone/>
            </a:pPr>
            <a:r>
              <a:rPr lang="en-US" sz="1000" b="1" dirty="0">
                <a:solidFill>
                  <a:srgbClr val="B84422"/>
                </a:solidFill>
                <a:latin typeface="Calibri" pitchFamily="34" charset="0"/>
                <a:ea typeface="Calibri" pitchFamily="34" charset="-122"/>
                <a:cs typeface="Calibri" pitchFamily="34" charset="-120"/>
              </a:rPr>
              <a:t>                              AI4HEALTHCARE TRACK</a:t>
            </a:r>
            <a:endParaRPr lang="en-US" sz="1000" dirty="0"/>
          </a:p>
        </p:txBody>
      </p:sp>
      <p:sp>
        <p:nvSpPr>
          <p:cNvPr id="29" name="Text 27"/>
          <p:cNvSpPr/>
          <p:nvPr/>
        </p:nvSpPr>
        <p:spPr>
          <a:xfrm>
            <a:off x="1315424" y="1779791"/>
            <a:ext cx="3475006" cy="791959"/>
          </a:xfrm>
          <a:prstGeom prst="rect">
            <a:avLst/>
          </a:prstGeom>
          <a:noFill/>
          <a:ln/>
        </p:spPr>
        <p:txBody>
          <a:bodyPr wrap="square" lIns="0" tIns="0" rIns="0" bIns="0" rtlCol="0" anchor="t"/>
          <a:lstStyle/>
          <a:p>
            <a:pPr algn="just"/>
            <a:r>
              <a:rPr lang="en-GB" sz="1000" dirty="0"/>
              <a:t>A rural health worker photographs a patient's skin lesion or wound at a primary health centre with no specialist on-site. Build a computer vision model that classifies its severity or likely condition and translates the output into a specific referral decision that a non-specialist can act on without medical training.</a:t>
            </a:r>
            <a:endParaRPr lang="en-US" sz="1000" dirty="0"/>
          </a:p>
        </p:txBody>
      </p:sp>
      <p:sp>
        <p:nvSpPr>
          <p:cNvPr id="30" name="Text 28"/>
          <p:cNvSpPr/>
          <p:nvPr/>
        </p:nvSpPr>
        <p:spPr>
          <a:xfrm>
            <a:off x="1030548" y="2692803"/>
            <a:ext cx="2233438" cy="158896"/>
          </a:xfrm>
          <a:prstGeom prst="rect">
            <a:avLst/>
          </a:prstGeom>
          <a:noFill/>
          <a:ln/>
        </p:spPr>
        <p:txBody>
          <a:bodyPr wrap="square" lIns="0" tIns="0" rIns="0" bIns="0" rtlCol="0" anchor="ctr"/>
          <a:lstStyle/>
          <a:p>
            <a:pPr marL="0" indent="0">
              <a:buNone/>
            </a:pPr>
            <a:r>
              <a:rPr lang="en-US" sz="1000" b="1" kern="0" spc="200" dirty="0">
                <a:solidFill>
                  <a:schemeClr val="bg1">
                    <a:lumMod val="50000"/>
                  </a:schemeClr>
                </a:solidFill>
                <a:latin typeface="Calibri" pitchFamily="34" charset="0"/>
                <a:ea typeface="Calibri" pitchFamily="34" charset="-122"/>
                <a:cs typeface="Calibri" pitchFamily="34" charset="-120"/>
              </a:rPr>
              <a:t>02  —  REAL-WORLD CONTEXT</a:t>
            </a:r>
            <a:endParaRPr lang="en-US" sz="1000" dirty="0">
              <a:solidFill>
                <a:schemeClr val="bg1">
                  <a:lumMod val="50000"/>
                </a:schemeClr>
              </a:solidFill>
            </a:endParaRPr>
          </a:p>
        </p:txBody>
      </p:sp>
      <p:sp>
        <p:nvSpPr>
          <p:cNvPr id="32" name="Shape 30"/>
          <p:cNvSpPr/>
          <p:nvPr/>
        </p:nvSpPr>
        <p:spPr>
          <a:xfrm>
            <a:off x="1066547" y="2869554"/>
            <a:ext cx="7766557" cy="887584"/>
          </a:xfrm>
          <a:prstGeom prst="rect">
            <a:avLst/>
          </a:prstGeom>
          <a:solidFill>
            <a:srgbClr val="FFFFFF"/>
          </a:solidFill>
          <a:ln w="12700">
            <a:solidFill>
              <a:srgbClr val="E5E0D6"/>
            </a:solidFill>
            <a:prstDash val="solid"/>
          </a:ln>
          <a:effectLst>
            <a:outerShdw blurRad="101600" dist="25400" dir="8400000" algn="bl" rotWithShape="0">
              <a:srgbClr val="000000">
                <a:alpha val="7000"/>
              </a:srgbClr>
            </a:outerShdw>
          </a:effectLst>
        </p:spPr>
        <p:txBody>
          <a:bodyPr/>
          <a:lstStyle/>
          <a:p>
            <a:endParaRPr lang="en-IN" dirty="0"/>
          </a:p>
        </p:txBody>
      </p:sp>
      <p:sp>
        <p:nvSpPr>
          <p:cNvPr id="33" name="Text 31"/>
          <p:cNvSpPr/>
          <p:nvPr/>
        </p:nvSpPr>
        <p:spPr>
          <a:xfrm>
            <a:off x="1196133" y="2941666"/>
            <a:ext cx="7507383" cy="743360"/>
          </a:xfrm>
          <a:prstGeom prst="rect">
            <a:avLst/>
          </a:prstGeom>
          <a:noFill/>
          <a:ln/>
        </p:spPr>
        <p:txBody>
          <a:bodyPr wrap="square" lIns="0" tIns="0" rIns="0" bIns="0" rtlCol="0" anchor="t"/>
          <a:lstStyle/>
          <a:p>
            <a:r>
              <a:rPr lang="en-US" sz="1000" i="1" dirty="0">
                <a:latin typeface="Calibri" pitchFamily="34" charset="0"/>
                <a:ea typeface="Calibri" pitchFamily="34" charset="-122"/>
                <a:cs typeface="Calibri" pitchFamily="34" charset="-120"/>
              </a:rPr>
              <a:t>In rural primary health </a:t>
            </a:r>
            <a:r>
              <a:rPr lang="en-US" sz="1000" i="1" dirty="0" err="1">
                <a:latin typeface="Calibri" pitchFamily="34" charset="0"/>
                <a:ea typeface="Calibri" pitchFamily="34" charset="-122"/>
                <a:cs typeface="Calibri" pitchFamily="34" charset="-120"/>
              </a:rPr>
              <a:t>centres</a:t>
            </a:r>
            <a:r>
              <a:rPr lang="en-US" sz="1000" i="1" dirty="0">
                <a:latin typeface="Calibri" pitchFamily="34" charset="0"/>
                <a:ea typeface="Calibri" pitchFamily="34" charset="-122"/>
                <a:cs typeface="Calibri" pitchFamily="34" charset="-120"/>
              </a:rPr>
              <a:t> across low- and middle-income countries, community health workers encounter patients with skin lesions, infected wounds, and burns daily — yet no dermatologist or wound specialist is on-site. Without visual decision support, workers must triage blindly: under-referral delays cancer diagnosis and lets infections turn septic; over-referral overwhelms district hospitals and imposes unbearable transport costs on poor families. Patients deteriorate, die, or go bankrupt avoiding care they cannot access. A tool that classifies wound and lesion severity from a photograph — and translates that into a plain-language referral action — directly closes this gap.</a:t>
            </a:r>
            <a:endParaRPr lang="en-US" sz="1000" i="1" dirty="0"/>
          </a:p>
        </p:txBody>
      </p:sp>
      <p:sp>
        <p:nvSpPr>
          <p:cNvPr id="34" name="Text 32"/>
          <p:cNvSpPr/>
          <p:nvPr/>
        </p:nvSpPr>
        <p:spPr>
          <a:xfrm>
            <a:off x="1051704" y="3812058"/>
            <a:ext cx="1581084" cy="115664"/>
          </a:xfrm>
          <a:prstGeom prst="rect">
            <a:avLst/>
          </a:prstGeom>
          <a:noFill/>
          <a:ln/>
        </p:spPr>
        <p:txBody>
          <a:bodyPr wrap="square" lIns="0" tIns="0" rIns="0" bIns="0" rtlCol="0" anchor="ctr"/>
          <a:lstStyle/>
          <a:p>
            <a:pPr marL="0" indent="0">
              <a:buNone/>
            </a:pPr>
            <a:r>
              <a:rPr lang="en-US" sz="1000" b="1" kern="0" spc="200" dirty="0">
                <a:solidFill>
                  <a:schemeClr val="bg1">
                    <a:lumMod val="50000"/>
                  </a:schemeClr>
                </a:solidFill>
                <a:latin typeface="Calibri" pitchFamily="34" charset="0"/>
                <a:ea typeface="Calibri" pitchFamily="34" charset="-122"/>
                <a:cs typeface="Calibri" pitchFamily="34" charset="-120"/>
              </a:rPr>
              <a:t>03  —  CURRENT GAP</a:t>
            </a:r>
            <a:endParaRPr lang="en-US" sz="1000" dirty="0">
              <a:solidFill>
                <a:schemeClr val="bg1">
                  <a:lumMod val="50000"/>
                </a:schemeClr>
              </a:solidFill>
            </a:endParaRPr>
          </a:p>
        </p:txBody>
      </p:sp>
      <p:sp>
        <p:nvSpPr>
          <p:cNvPr id="35" name="Text 33"/>
          <p:cNvSpPr/>
          <p:nvPr/>
        </p:nvSpPr>
        <p:spPr>
          <a:xfrm>
            <a:off x="2671534" y="3812058"/>
            <a:ext cx="3470902" cy="109086"/>
          </a:xfrm>
          <a:prstGeom prst="rect">
            <a:avLst/>
          </a:prstGeom>
          <a:noFill/>
          <a:ln/>
        </p:spPr>
        <p:txBody>
          <a:bodyPr wrap="square" lIns="0" tIns="0" rIns="0" bIns="0" rtlCol="0" anchor="ctr"/>
          <a:lstStyle/>
          <a:p>
            <a:r>
              <a:rPr lang="en-US" sz="900" i="1" dirty="0">
                <a:solidFill>
                  <a:srgbClr val="993300"/>
                </a:solidFill>
                <a:latin typeface="Calibri" pitchFamily="34" charset="0"/>
                <a:ea typeface="Calibri" pitchFamily="34" charset="-122"/>
                <a:cs typeface="Calibri" pitchFamily="34" charset="-120"/>
              </a:rPr>
              <a:t>What is missing — tools, access, expertise, cost? Be precise. </a:t>
            </a:r>
            <a:r>
              <a:rPr lang="en-US" sz="900" dirty="0">
                <a:solidFill>
                  <a:srgbClr val="993300"/>
                </a:solidFill>
                <a:latin typeface="Calibri" pitchFamily="34" charset="0"/>
                <a:ea typeface="Calibri" pitchFamily="34" charset="-122"/>
                <a:cs typeface="Calibri" pitchFamily="34" charset="-120"/>
              </a:rPr>
              <a:t>(&lt; 100 words)</a:t>
            </a:r>
          </a:p>
        </p:txBody>
      </p:sp>
      <p:sp>
        <p:nvSpPr>
          <p:cNvPr id="36" name="Shape 34"/>
          <p:cNvSpPr/>
          <p:nvPr/>
        </p:nvSpPr>
        <p:spPr>
          <a:xfrm>
            <a:off x="1058973" y="3976846"/>
            <a:ext cx="7737555" cy="1015778"/>
          </a:xfrm>
          <a:prstGeom prst="rect">
            <a:avLst/>
          </a:prstGeom>
          <a:solidFill>
            <a:srgbClr val="FFFFFF"/>
          </a:solidFill>
          <a:ln w="12700">
            <a:solidFill>
              <a:srgbClr val="E5E0D6"/>
            </a:solidFill>
            <a:prstDash val="solid"/>
          </a:ln>
          <a:effectLst>
            <a:outerShdw blurRad="101600" dist="25400" dir="8400000" algn="bl" rotWithShape="0">
              <a:srgbClr val="000000">
                <a:alpha val="7000"/>
              </a:srgbClr>
            </a:outerShdw>
          </a:effectLst>
        </p:spPr>
      </p:sp>
      <p:sp>
        <p:nvSpPr>
          <p:cNvPr id="37" name="Text 35"/>
          <p:cNvSpPr/>
          <p:nvPr/>
        </p:nvSpPr>
        <p:spPr>
          <a:xfrm>
            <a:off x="1188561" y="4004284"/>
            <a:ext cx="7507383" cy="754216"/>
          </a:xfrm>
          <a:prstGeom prst="rect">
            <a:avLst/>
          </a:prstGeom>
          <a:noFill/>
          <a:ln/>
        </p:spPr>
        <p:txBody>
          <a:bodyPr wrap="square" lIns="0" tIns="0" rIns="0" bIns="0" rtlCol="0" anchor="t"/>
          <a:lstStyle/>
          <a:p>
            <a:r>
              <a:rPr lang="en-US" sz="1000" i="1" dirty="0">
                <a:latin typeface="Calibri" pitchFamily="34" charset="0"/>
                <a:ea typeface="Calibri" pitchFamily="34" charset="-122"/>
                <a:cs typeface="Calibri" pitchFamily="34" charset="-120"/>
              </a:rPr>
              <a:t>Existing dermatology AI tools — such as </a:t>
            </a:r>
            <a:r>
              <a:rPr lang="en-US" sz="1000" i="1" dirty="0" err="1">
                <a:latin typeface="Calibri" pitchFamily="34" charset="0"/>
                <a:ea typeface="Calibri" pitchFamily="34" charset="-122"/>
                <a:cs typeface="Calibri" pitchFamily="34" charset="-120"/>
              </a:rPr>
              <a:t>SkinVision</a:t>
            </a:r>
            <a:r>
              <a:rPr lang="en-US" sz="1000" i="1" dirty="0">
                <a:latin typeface="Calibri" pitchFamily="34" charset="0"/>
                <a:ea typeface="Calibri" pitchFamily="34" charset="-122"/>
                <a:cs typeface="Calibri" pitchFamily="34" charset="-120"/>
              </a:rPr>
              <a:t> and </a:t>
            </a:r>
            <a:r>
              <a:rPr lang="en-US" sz="1000" i="1" dirty="0" err="1">
                <a:latin typeface="Calibri" pitchFamily="34" charset="0"/>
                <a:ea typeface="Calibri" pitchFamily="34" charset="-122"/>
                <a:cs typeface="Calibri" pitchFamily="34" charset="-120"/>
              </a:rPr>
              <a:t>ModelDerm</a:t>
            </a:r>
            <a:r>
              <a:rPr lang="en-US" sz="1000" i="1" dirty="0">
                <a:latin typeface="Calibri" pitchFamily="34" charset="0"/>
                <a:ea typeface="Calibri" pitchFamily="34" charset="-122"/>
                <a:cs typeface="Calibri" pitchFamily="34" charset="-120"/>
              </a:rPr>
              <a:t> — are designed for smartphone-owning consumers in high-income settings. They require stable internet, assume health literacy, and output probabilistic scores that mean nothing to an untrained worker. Telemedicine platforms exist but depend on specialist availability and synchronous connectivity — neither guaranteed rurally. No current tool combines offline-capable computer vision with a deterministic, plain-language referral engine calibrated for non-specialist use. The gap is simultaneously one of access, expertise translation, infrastructure resilience, and last-mile usability — none of which existing commercial or academic tools address together in a single deployable solution.</a:t>
            </a:r>
            <a:endParaRPr lang="en-US" sz="1000" i="1" dirty="0"/>
          </a:p>
        </p:txBody>
      </p:sp>
      <p:sp>
        <p:nvSpPr>
          <p:cNvPr id="39" name="Text 37"/>
          <p:cNvSpPr/>
          <p:nvPr/>
        </p:nvSpPr>
        <p:spPr>
          <a:xfrm>
            <a:off x="1627632" y="4992624"/>
            <a:ext cx="7205472" cy="164592"/>
          </a:xfrm>
          <a:prstGeom prst="rect">
            <a:avLst/>
          </a:prstGeom>
          <a:noFill/>
          <a:ln/>
        </p:spPr>
        <p:txBody>
          <a:bodyPr wrap="square" lIns="0" tIns="0" rIns="0" bIns="0" rtlCol="0" anchor="ctr"/>
          <a:lstStyle/>
          <a:p>
            <a:pPr marL="0" indent="0" algn="ctr">
              <a:buNone/>
            </a:pPr>
            <a:r>
              <a:rPr lang="en-US" sz="750" dirty="0">
                <a:solidFill>
                  <a:srgbClr val="A8A8A8"/>
                </a:solidFill>
                <a:latin typeface="Calibri" pitchFamily="34" charset="0"/>
                <a:ea typeface="Calibri" pitchFamily="34" charset="-122"/>
                <a:cs typeface="Calibri" pitchFamily="34" charset="-120"/>
              </a:rPr>
              <a:t>Slide 1 of 2  ·  PeaceOfCode 2026 – Round 1  ·  nirvana@iitrpr.ac.in</a:t>
            </a:r>
            <a:endParaRPr lang="en-US" sz="750" dirty="0"/>
          </a:p>
        </p:txBody>
      </p:sp>
      <p:sp>
        <p:nvSpPr>
          <p:cNvPr id="42" name="Shape 10"/>
          <p:cNvSpPr/>
          <p:nvPr/>
        </p:nvSpPr>
        <p:spPr>
          <a:xfrm>
            <a:off x="1020888" y="635974"/>
            <a:ext cx="7812216" cy="10800"/>
          </a:xfrm>
          <a:prstGeom prst="rect">
            <a:avLst/>
          </a:prstGeom>
          <a:solidFill>
            <a:srgbClr val="DDD5C8"/>
          </a:solidFill>
          <a:ln w="12700">
            <a:solidFill>
              <a:srgbClr val="DDD5C8"/>
            </a:solidFill>
            <a:prstDash val="solid"/>
          </a:ln>
        </p:spPr>
      </p:sp>
      <p:sp>
        <p:nvSpPr>
          <p:cNvPr id="38" name="TextBox 37">
            <a:extLst>
              <a:ext uri="{FF2B5EF4-FFF2-40B4-BE49-F238E27FC236}">
                <a16:creationId xmlns:a16="http://schemas.microsoft.com/office/drawing/2014/main" xmlns="" id="{5635A7CE-6AC1-8C15-DF6E-4E891B5176AF}"/>
              </a:ext>
            </a:extLst>
          </p:cNvPr>
          <p:cNvSpPr txBox="1"/>
          <p:nvPr/>
        </p:nvSpPr>
        <p:spPr>
          <a:xfrm>
            <a:off x="1010408" y="914400"/>
            <a:ext cx="1545084" cy="246221"/>
          </a:xfrm>
          <a:prstGeom prst="rect">
            <a:avLst/>
          </a:prstGeom>
          <a:noFill/>
        </p:spPr>
        <p:txBody>
          <a:bodyPr wrap="square" rtlCol="0">
            <a:spAutoFit/>
          </a:bodyPr>
          <a:lstStyle/>
          <a:p>
            <a:r>
              <a:rPr lang="en-US" sz="1000" i="1" dirty="0" err="1" smtClean="0">
                <a:solidFill>
                  <a:schemeClr val="bg1">
                    <a:lumMod val="50000"/>
                  </a:schemeClr>
                </a:solidFill>
                <a:latin typeface="Calibri" pitchFamily="34" charset="0"/>
                <a:ea typeface="Calibri" pitchFamily="34" charset="-122"/>
                <a:cs typeface="Calibri" pitchFamily="34" charset="-120"/>
              </a:rPr>
              <a:t>Hackspire</a:t>
            </a:r>
            <a:endParaRPr lang="en-IN" sz="1000" i="1" dirty="0">
              <a:solidFill>
                <a:schemeClr val="bg1">
                  <a:lumMod val="50000"/>
                </a:schemeClr>
              </a:solidFill>
              <a:latin typeface="Calibri" pitchFamily="34" charset="0"/>
              <a:ea typeface="Calibri" pitchFamily="34" charset="-122"/>
              <a:cs typeface="Calibri" pitchFamily="34" charset="-120"/>
            </a:endParaRPr>
          </a:p>
        </p:txBody>
      </p:sp>
      <p:sp>
        <p:nvSpPr>
          <p:cNvPr id="40" name="TextBox 39">
            <a:extLst>
              <a:ext uri="{FF2B5EF4-FFF2-40B4-BE49-F238E27FC236}">
                <a16:creationId xmlns:a16="http://schemas.microsoft.com/office/drawing/2014/main" xmlns="" id="{A158AAF2-BDD0-CBCF-FAED-EB9F86CA5FC2}"/>
              </a:ext>
            </a:extLst>
          </p:cNvPr>
          <p:cNvSpPr txBox="1"/>
          <p:nvPr/>
        </p:nvSpPr>
        <p:spPr>
          <a:xfrm>
            <a:off x="5385815" y="914398"/>
            <a:ext cx="3127563" cy="246221"/>
          </a:xfrm>
          <a:prstGeom prst="rect">
            <a:avLst/>
          </a:prstGeom>
          <a:noFill/>
        </p:spPr>
        <p:txBody>
          <a:bodyPr wrap="square" rtlCol="0">
            <a:spAutoFit/>
          </a:bodyPr>
          <a:lstStyle/>
          <a:p>
            <a:r>
              <a:rPr lang="en-US" sz="1000" dirty="0" smtClean="0"/>
              <a:t>Indian institute of information technology </a:t>
            </a:r>
            <a:r>
              <a:rPr lang="en-US" sz="1000" dirty="0" err="1" smtClean="0"/>
              <a:t>Una</a:t>
            </a:r>
            <a:endParaRPr lang="en-IN"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6"/>
        </a:solidFill>
        <a:effectLst/>
      </p:bgPr>
    </p:bg>
    <p:spTree>
      <p:nvGrpSpPr>
        <p:cNvPr id="1" name=""/>
        <p:cNvGrpSpPr/>
        <p:nvPr/>
      </p:nvGrpSpPr>
      <p:grpSpPr>
        <a:xfrm>
          <a:off x="0" y="0"/>
          <a:ext cx="0" cy="0"/>
          <a:chOff x="0" y="0"/>
          <a:chExt cx="0" cy="0"/>
        </a:xfrm>
      </p:grpSpPr>
      <p:sp>
        <p:nvSpPr>
          <p:cNvPr id="46" name="Shape 11"/>
          <p:cNvSpPr/>
          <p:nvPr/>
        </p:nvSpPr>
        <p:spPr>
          <a:xfrm>
            <a:off x="1026316" y="794067"/>
            <a:ext cx="3813806" cy="2810905"/>
          </a:xfrm>
          <a:prstGeom prst="rect">
            <a:avLst/>
          </a:prstGeom>
          <a:solidFill>
            <a:srgbClr val="FFFFFF"/>
          </a:solidFill>
          <a:ln w="12700">
            <a:solidFill>
              <a:srgbClr val="E5E0D6"/>
            </a:solidFill>
            <a:prstDash val="solid"/>
          </a:ln>
          <a:effectLst>
            <a:outerShdw blurRad="101600" dist="25400" dir="8400000" algn="bl" rotWithShape="0">
              <a:srgbClr val="000000">
                <a:alpha val="7000"/>
              </a:srgbClr>
            </a:outerShdw>
          </a:effectLst>
        </p:spPr>
      </p:sp>
      <p:sp>
        <p:nvSpPr>
          <p:cNvPr id="2" name="Shape 0"/>
          <p:cNvSpPr/>
          <p:nvPr/>
        </p:nvSpPr>
        <p:spPr>
          <a:xfrm>
            <a:off x="0" y="0"/>
            <a:ext cx="841732" cy="5143500"/>
          </a:xfrm>
          <a:prstGeom prst="rect">
            <a:avLst/>
          </a:prstGeom>
          <a:solidFill>
            <a:srgbClr val="1B3D2F"/>
          </a:solidFill>
          <a:ln w="12700">
            <a:solidFill>
              <a:srgbClr val="1B3D2F"/>
            </a:solidFill>
            <a:prstDash val="solid"/>
          </a:ln>
        </p:spPr>
      </p:sp>
      <p:sp>
        <p:nvSpPr>
          <p:cNvPr id="3" name="Shape 1"/>
          <p:cNvSpPr/>
          <p:nvPr/>
        </p:nvSpPr>
        <p:spPr>
          <a:xfrm>
            <a:off x="0" y="4407540"/>
            <a:ext cx="841732" cy="735960"/>
          </a:xfrm>
          <a:prstGeom prst="rect">
            <a:avLst/>
          </a:prstGeom>
          <a:solidFill>
            <a:srgbClr val="B84422">
              <a:alpha val="20000"/>
            </a:srgbClr>
          </a:solidFill>
          <a:ln w="12700">
            <a:solidFill>
              <a:srgbClr val="B84422">
                <a:alpha val="20000"/>
              </a:srgbClr>
            </a:solidFill>
            <a:prstDash val="solid"/>
          </a:ln>
        </p:spPr>
      </p:sp>
      <p:sp>
        <p:nvSpPr>
          <p:cNvPr id="4" name="Shape 2"/>
          <p:cNvSpPr/>
          <p:nvPr/>
        </p:nvSpPr>
        <p:spPr>
          <a:xfrm>
            <a:off x="238107" y="242348"/>
            <a:ext cx="365518" cy="324579"/>
          </a:xfrm>
          <a:prstGeom prst="rect">
            <a:avLst/>
          </a:prstGeom>
          <a:solidFill>
            <a:srgbClr val="1B3D2F"/>
          </a:solidFill>
          <a:ln w="12700">
            <a:solidFill>
              <a:srgbClr val="FFFFFF"/>
            </a:solidFill>
            <a:prstDash val="solid"/>
          </a:ln>
        </p:spPr>
      </p:sp>
      <p:sp>
        <p:nvSpPr>
          <p:cNvPr id="5" name="Text 3"/>
          <p:cNvSpPr/>
          <p:nvPr/>
        </p:nvSpPr>
        <p:spPr>
          <a:xfrm>
            <a:off x="247372" y="242349"/>
            <a:ext cx="36551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6" name="Text 4"/>
          <p:cNvSpPr/>
          <p:nvPr/>
        </p:nvSpPr>
        <p:spPr>
          <a:xfrm rot="16200000">
            <a:off x="-365518" y="2308498"/>
            <a:ext cx="1572768" cy="384048"/>
          </a:xfrm>
          <a:prstGeom prst="rect">
            <a:avLst/>
          </a:prstGeom>
          <a:noFill/>
          <a:ln/>
        </p:spPr>
        <p:txBody>
          <a:bodyPr wrap="square" rtlCol="0" anchor="ctr"/>
          <a:lstStyle/>
          <a:p>
            <a:pPr marL="0" indent="0" algn="ctr">
              <a:buNone/>
            </a:pPr>
            <a:r>
              <a:rPr lang="en-US" sz="900" b="1" kern="0" spc="400" dirty="0">
                <a:solidFill>
                  <a:srgbClr val="FFFFFF">
                    <a:alpha val="65000"/>
                  </a:srgbClr>
                </a:solidFill>
                <a:latin typeface="Calibri" pitchFamily="34" charset="0"/>
                <a:ea typeface="Calibri" pitchFamily="34" charset="-122"/>
                <a:cs typeface="Calibri" pitchFamily="34" charset="-120"/>
              </a:rPr>
              <a:t>SOLUTION</a:t>
            </a:r>
            <a:endParaRPr lang="en-US" sz="900" dirty="0"/>
          </a:p>
        </p:txBody>
      </p:sp>
      <p:sp>
        <p:nvSpPr>
          <p:cNvPr id="7" name="Text 5"/>
          <p:cNvSpPr/>
          <p:nvPr/>
        </p:nvSpPr>
        <p:spPr>
          <a:xfrm>
            <a:off x="23420" y="4535424"/>
            <a:ext cx="792000" cy="182880"/>
          </a:xfrm>
          <a:prstGeom prst="rect">
            <a:avLst/>
          </a:prstGeom>
          <a:noFill/>
          <a:ln/>
        </p:spPr>
        <p:txBody>
          <a:bodyPr wrap="square" lIns="0" tIns="0" rIns="0" bIns="0" rtlCol="0" anchor="ctr"/>
          <a:lstStyle/>
          <a:p>
            <a:pPr marL="0" indent="0" algn="ctr">
              <a:buNone/>
            </a:pPr>
            <a:r>
              <a:rPr lang="en-US" sz="750" b="1" dirty="0">
                <a:solidFill>
                  <a:srgbClr val="FFFFFF">
                    <a:alpha val="70000"/>
                  </a:srgbClr>
                </a:solidFill>
                <a:latin typeface="Georgia" pitchFamily="34" charset="0"/>
                <a:ea typeface="Georgia" pitchFamily="34" charset="-122"/>
                <a:cs typeface="Georgia" pitchFamily="34" charset="-120"/>
              </a:rPr>
              <a:t>PeaceOfCode</a:t>
            </a:r>
            <a:endParaRPr lang="en-US" sz="750" dirty="0"/>
          </a:p>
        </p:txBody>
      </p:sp>
      <p:sp>
        <p:nvSpPr>
          <p:cNvPr id="8" name="Text 6"/>
          <p:cNvSpPr/>
          <p:nvPr/>
        </p:nvSpPr>
        <p:spPr>
          <a:xfrm>
            <a:off x="36576" y="4727448"/>
            <a:ext cx="805156" cy="164592"/>
          </a:xfrm>
          <a:prstGeom prst="rect">
            <a:avLst/>
          </a:prstGeom>
          <a:noFill/>
          <a:ln/>
        </p:spPr>
        <p:txBody>
          <a:bodyPr wrap="square" lIns="0" tIns="0" rIns="0" bIns="0" rtlCol="0" anchor="ctr"/>
          <a:lstStyle/>
          <a:p>
            <a:pPr marL="0" indent="0" algn="ctr">
              <a:buNone/>
            </a:pPr>
            <a:r>
              <a:rPr lang="en-US" sz="750" dirty="0">
                <a:solidFill>
                  <a:srgbClr val="FFFFFF">
                    <a:alpha val="55000"/>
                  </a:srgbClr>
                </a:solidFill>
                <a:latin typeface="Georgia" pitchFamily="34" charset="0"/>
                <a:ea typeface="Georgia" pitchFamily="34" charset="-122"/>
                <a:cs typeface="Georgia" pitchFamily="34" charset="-120"/>
              </a:rPr>
              <a:t>2026</a:t>
            </a:r>
            <a:endParaRPr lang="en-US" sz="750" dirty="0"/>
          </a:p>
        </p:txBody>
      </p:sp>
      <p:sp>
        <p:nvSpPr>
          <p:cNvPr id="10" name="Text 8"/>
          <p:cNvSpPr/>
          <p:nvPr/>
        </p:nvSpPr>
        <p:spPr>
          <a:xfrm>
            <a:off x="6766560" y="192024"/>
            <a:ext cx="2029968" cy="201168"/>
          </a:xfrm>
          <a:prstGeom prst="rect">
            <a:avLst/>
          </a:prstGeom>
          <a:noFill/>
          <a:ln/>
        </p:spPr>
        <p:txBody>
          <a:bodyPr wrap="square" lIns="0" tIns="0" rIns="0" bIns="0" rtlCol="0" anchor="ctr"/>
          <a:lstStyle/>
          <a:p>
            <a:pPr marL="0" indent="0" algn="r">
              <a:buNone/>
            </a:pPr>
            <a:r>
              <a:rPr lang="en-US" sz="850" b="1" dirty="0">
                <a:solidFill>
                  <a:srgbClr val="2A6048"/>
                </a:solidFill>
                <a:latin typeface="Calibri" pitchFamily="34" charset="0"/>
                <a:ea typeface="Calibri" pitchFamily="34" charset="-122"/>
                <a:cs typeface="Calibri" pitchFamily="34" charset="-120"/>
              </a:rPr>
              <a:t>PeaceOfCode 2026</a:t>
            </a:r>
            <a:endParaRPr lang="en-US" sz="850" dirty="0"/>
          </a:p>
        </p:txBody>
      </p:sp>
      <p:sp>
        <p:nvSpPr>
          <p:cNvPr id="13" name="Shape 11"/>
          <p:cNvSpPr/>
          <p:nvPr/>
        </p:nvSpPr>
        <p:spPr>
          <a:xfrm>
            <a:off x="5025434" y="810527"/>
            <a:ext cx="3807670" cy="2794445"/>
          </a:xfrm>
          <a:prstGeom prst="rect">
            <a:avLst/>
          </a:prstGeom>
          <a:solidFill>
            <a:srgbClr val="FFFFFF"/>
          </a:solidFill>
          <a:ln w="12700">
            <a:solidFill>
              <a:srgbClr val="E5E0D6"/>
            </a:solidFill>
            <a:prstDash val="solid"/>
          </a:ln>
          <a:effectLst>
            <a:outerShdw blurRad="101600" dist="25400" dir="8400000" algn="bl" rotWithShape="0">
              <a:srgbClr val="000000">
                <a:alpha val="7000"/>
              </a:srgbClr>
            </a:outerShdw>
          </a:effectLst>
        </p:spPr>
      </p:sp>
      <p:sp>
        <p:nvSpPr>
          <p:cNvPr id="14" name="Text 12"/>
          <p:cNvSpPr/>
          <p:nvPr/>
        </p:nvSpPr>
        <p:spPr>
          <a:xfrm>
            <a:off x="5146994" y="920256"/>
            <a:ext cx="256032" cy="201168"/>
          </a:xfrm>
          <a:prstGeom prst="rect">
            <a:avLst/>
          </a:prstGeom>
          <a:noFill/>
          <a:ln/>
        </p:spPr>
        <p:txBody>
          <a:bodyPr wrap="square" lIns="0" tIns="0" rIns="0" bIns="0" rtlCol="0" anchor="ctr"/>
          <a:lstStyle/>
          <a:p>
            <a:pPr marL="0" indent="0">
              <a:buNone/>
            </a:pPr>
            <a:r>
              <a:rPr lang="en-US" sz="1050" b="1" dirty="0">
                <a:solidFill>
                  <a:srgbClr val="B84422"/>
                </a:solidFill>
                <a:latin typeface="Calibri" pitchFamily="34" charset="0"/>
                <a:ea typeface="Calibri" pitchFamily="34" charset="-122"/>
                <a:cs typeface="Calibri" pitchFamily="34" charset="-120"/>
              </a:rPr>
              <a:t>02</a:t>
            </a:r>
            <a:endParaRPr lang="en-US" sz="1050" dirty="0"/>
          </a:p>
        </p:txBody>
      </p:sp>
      <p:sp>
        <p:nvSpPr>
          <p:cNvPr id="15" name="Text 13"/>
          <p:cNvSpPr/>
          <p:nvPr/>
        </p:nvSpPr>
        <p:spPr>
          <a:xfrm>
            <a:off x="5403026" y="920256"/>
            <a:ext cx="3324234" cy="201168"/>
          </a:xfrm>
          <a:prstGeom prst="rect">
            <a:avLst/>
          </a:prstGeom>
          <a:noFill/>
          <a:ln/>
        </p:spPr>
        <p:txBody>
          <a:bodyPr wrap="square" lIns="0" tIns="0" rIns="0" bIns="0" rtlCol="0" anchor="ctr"/>
          <a:lstStyle/>
          <a:p>
            <a:r>
              <a:rPr lang="en-US" sz="1050" b="1" kern="0" spc="50" dirty="0">
                <a:solidFill>
                  <a:schemeClr val="tx1">
                    <a:lumMod val="65000"/>
                    <a:lumOff val="35000"/>
                  </a:schemeClr>
                </a:solidFill>
                <a:latin typeface="Calibri" pitchFamily="34" charset="0"/>
                <a:ea typeface="Calibri" pitchFamily="34" charset="-122"/>
                <a:cs typeface="Calibri" pitchFamily="34" charset="-120"/>
              </a:rPr>
              <a:t>MODEL ARCHITECTURE</a:t>
            </a:r>
            <a:r>
              <a:rPr lang="en-US" sz="900" b="1" kern="0" spc="50" dirty="0">
                <a:solidFill>
                  <a:schemeClr val="tx1">
                    <a:lumMod val="65000"/>
                    <a:lumOff val="35000"/>
                  </a:schemeClr>
                </a:solidFill>
                <a:latin typeface="Calibri" pitchFamily="34" charset="0"/>
                <a:ea typeface="Calibri" pitchFamily="34" charset="-122"/>
                <a:cs typeface="Calibri" pitchFamily="34" charset="-120"/>
              </a:rPr>
              <a:t> </a:t>
            </a:r>
          </a:p>
        </p:txBody>
      </p:sp>
      <p:sp>
        <p:nvSpPr>
          <p:cNvPr id="16" name="Shape 14"/>
          <p:cNvSpPr/>
          <p:nvPr/>
        </p:nvSpPr>
        <p:spPr>
          <a:xfrm>
            <a:off x="5127260" y="1158000"/>
            <a:ext cx="3600000" cy="7315"/>
          </a:xfrm>
          <a:prstGeom prst="rect">
            <a:avLst/>
          </a:prstGeom>
          <a:solidFill>
            <a:srgbClr val="DDD5C8"/>
          </a:solidFill>
          <a:ln w="12700">
            <a:solidFill>
              <a:srgbClr val="DDD5C8"/>
            </a:solidFill>
            <a:prstDash val="solid"/>
          </a:ln>
        </p:spPr>
      </p:sp>
      <p:sp>
        <p:nvSpPr>
          <p:cNvPr id="17" name="Text 15"/>
          <p:cNvSpPr/>
          <p:nvPr/>
        </p:nvSpPr>
        <p:spPr>
          <a:xfrm>
            <a:off x="5146994" y="1263056"/>
            <a:ext cx="3530662" cy="2243240"/>
          </a:xfrm>
          <a:prstGeom prst="rect">
            <a:avLst/>
          </a:prstGeom>
          <a:noFill/>
          <a:ln/>
        </p:spPr>
        <p:txBody>
          <a:bodyPr wrap="square" lIns="0" tIns="0" rIns="0" bIns="0" rtlCol="0" anchor="t"/>
          <a:lstStyle/>
          <a:p>
            <a:r>
              <a:rPr lang="en-US" sz="1000" i="1" dirty="0">
                <a:latin typeface="Calibri" pitchFamily="34" charset="0"/>
                <a:ea typeface="Calibri" pitchFamily="34" charset="-122"/>
                <a:cs typeface="Calibri" pitchFamily="34" charset="-120"/>
              </a:rPr>
              <a:t>The pipeline begins with image preprocessing: each photo is resized to 224×224 pixels, </a:t>
            </a:r>
            <a:r>
              <a:rPr lang="en-US" sz="1000" i="1" dirty="0" err="1">
                <a:latin typeface="Calibri" pitchFamily="34" charset="0"/>
                <a:ea typeface="Calibri" pitchFamily="34" charset="-122"/>
                <a:cs typeface="Calibri" pitchFamily="34" charset="-120"/>
              </a:rPr>
              <a:t>normalised</a:t>
            </a:r>
            <a:r>
              <a:rPr lang="en-US" sz="1000" i="1" dirty="0">
                <a:latin typeface="Calibri" pitchFamily="34" charset="0"/>
                <a:ea typeface="Calibri" pitchFamily="34" charset="-122"/>
                <a:cs typeface="Calibri" pitchFamily="34" charset="-120"/>
              </a:rPr>
              <a:t> to [0,1], and augmented during training with flips, rotation, and brightness jitter to simulate variable field </a:t>
            </a:r>
            <a:r>
              <a:rPr lang="en-US" sz="1000" i="1" dirty="0" err="1">
                <a:latin typeface="Calibri" pitchFamily="34" charset="0"/>
                <a:ea typeface="Calibri" pitchFamily="34" charset="-122"/>
                <a:cs typeface="Calibri" pitchFamily="34" charset="-120"/>
              </a:rPr>
              <a:t>conditions.The</a:t>
            </a:r>
            <a:r>
              <a:rPr lang="en-US" sz="1000" i="1" dirty="0">
                <a:latin typeface="Calibri" pitchFamily="34" charset="0"/>
                <a:ea typeface="Calibri" pitchFamily="34" charset="-122"/>
                <a:cs typeface="Calibri" pitchFamily="34" charset="-120"/>
              </a:rPr>
              <a:t> backbone is EfficientNetB0, pre-trained on </a:t>
            </a:r>
            <a:r>
              <a:rPr lang="en-US" sz="1000" i="1" dirty="0" err="1">
                <a:latin typeface="Calibri" pitchFamily="34" charset="0"/>
                <a:ea typeface="Calibri" pitchFamily="34" charset="-122"/>
                <a:cs typeface="Calibri" pitchFamily="34" charset="-120"/>
              </a:rPr>
              <a:t>ImageNet</a:t>
            </a:r>
            <a:r>
              <a:rPr lang="en-US" sz="1000" i="1" dirty="0">
                <a:latin typeface="Calibri" pitchFamily="34" charset="0"/>
                <a:ea typeface="Calibri" pitchFamily="34" charset="-122"/>
                <a:cs typeface="Calibri" pitchFamily="34" charset="-120"/>
              </a:rPr>
              <a:t> and fine-tuned on combined clinical datasets. It is chosen for its high accuracy at low computational cost, making it viable on mobile browsers via TensorFlow.js. Training uses a two-phase strategy: heads are trained first, then the top 30% of the backbone is unfrozen for fine-</a:t>
            </a:r>
            <a:r>
              <a:rPr lang="en-US" sz="1000" i="1" dirty="0" err="1">
                <a:latin typeface="Calibri" pitchFamily="34" charset="0"/>
                <a:ea typeface="Calibri" pitchFamily="34" charset="-122"/>
                <a:cs typeface="Calibri" pitchFamily="34" charset="-120"/>
              </a:rPr>
              <a:t>tuning.Four</a:t>
            </a:r>
            <a:r>
              <a:rPr lang="en-US" sz="1000" i="1" dirty="0">
                <a:latin typeface="Calibri" pitchFamily="34" charset="0"/>
                <a:ea typeface="Calibri" pitchFamily="34" charset="-122"/>
                <a:cs typeface="Calibri" pitchFamily="34" charset="-120"/>
              </a:rPr>
              <a:t> output heads run in a single forward pass, producing class labels and confidence scores for lesion type, wound severity, infection signs, and burn degree simultaneously. The model is exported to TensorFlow.js and embedded in a Progressive Web App, enabling fully offline inference after first load. Output feeds into a referral decision engine, delivering a </a:t>
            </a:r>
            <a:r>
              <a:rPr lang="en-US" sz="1000" i="1" dirty="0" err="1">
                <a:latin typeface="Calibri" pitchFamily="34" charset="0"/>
                <a:ea typeface="Calibri" pitchFamily="34" charset="-122"/>
                <a:cs typeface="Calibri" pitchFamily="34" charset="-120"/>
              </a:rPr>
              <a:t>colour</a:t>
            </a:r>
            <a:r>
              <a:rPr lang="en-US" sz="1000" i="1" dirty="0">
                <a:latin typeface="Calibri" pitchFamily="34" charset="0"/>
                <a:ea typeface="Calibri" pitchFamily="34" charset="-122"/>
                <a:cs typeface="Calibri" pitchFamily="34" charset="-120"/>
              </a:rPr>
              <a:t>-coded action to the health worker within three seconds.</a:t>
            </a:r>
            <a:endParaRPr lang="en-US" sz="1000" i="1" dirty="0">
              <a:solidFill>
                <a:schemeClr val="bg1">
                  <a:lumMod val="50000"/>
                </a:schemeClr>
              </a:solidFill>
              <a:latin typeface="Calibri" pitchFamily="34" charset="0"/>
              <a:ea typeface="Calibri" pitchFamily="34" charset="-122"/>
              <a:cs typeface="Calibri" pitchFamily="34" charset="-120"/>
            </a:endParaRPr>
          </a:p>
        </p:txBody>
      </p:sp>
      <p:sp>
        <p:nvSpPr>
          <p:cNvPr id="19" name="Text 17"/>
          <p:cNvSpPr/>
          <p:nvPr/>
        </p:nvSpPr>
        <p:spPr>
          <a:xfrm>
            <a:off x="1261863" y="871890"/>
            <a:ext cx="256032" cy="201168"/>
          </a:xfrm>
          <a:prstGeom prst="rect">
            <a:avLst/>
          </a:prstGeom>
          <a:noFill/>
          <a:ln/>
        </p:spPr>
        <p:txBody>
          <a:bodyPr wrap="square" lIns="0" tIns="0" rIns="0" bIns="0" rtlCol="0" anchor="ctr"/>
          <a:lstStyle/>
          <a:p>
            <a:pPr marL="0" indent="0">
              <a:buNone/>
            </a:pPr>
            <a:endParaRPr lang="en-US" sz="750" dirty="0"/>
          </a:p>
        </p:txBody>
      </p:sp>
      <p:sp>
        <p:nvSpPr>
          <p:cNvPr id="20" name="Text 18"/>
          <p:cNvSpPr/>
          <p:nvPr/>
        </p:nvSpPr>
        <p:spPr>
          <a:xfrm>
            <a:off x="1536183" y="871890"/>
            <a:ext cx="616233" cy="201168"/>
          </a:xfrm>
          <a:prstGeom prst="rect">
            <a:avLst/>
          </a:prstGeom>
          <a:noFill/>
          <a:ln/>
        </p:spPr>
        <p:txBody>
          <a:bodyPr wrap="square" lIns="0" tIns="0" rIns="0" bIns="0" rtlCol="0" anchor="ctr"/>
          <a:lstStyle/>
          <a:p>
            <a:pPr marL="0" indent="0">
              <a:buNone/>
            </a:pPr>
            <a:endParaRPr lang="en-US" sz="1050" b="1" kern="0" spc="50" dirty="0">
              <a:solidFill>
                <a:schemeClr val="tx1">
                  <a:lumMod val="65000"/>
                  <a:lumOff val="35000"/>
                </a:schemeClr>
              </a:solidFill>
              <a:latin typeface="Calibri" pitchFamily="34" charset="0"/>
              <a:ea typeface="Calibri" pitchFamily="34" charset="-122"/>
              <a:cs typeface="Calibri" pitchFamily="34" charset="-120"/>
            </a:endParaRPr>
          </a:p>
        </p:txBody>
      </p:sp>
      <p:sp>
        <p:nvSpPr>
          <p:cNvPr id="22" name="Text 20"/>
          <p:cNvSpPr/>
          <p:nvPr/>
        </p:nvSpPr>
        <p:spPr>
          <a:xfrm>
            <a:off x="1141140" y="1263056"/>
            <a:ext cx="3555635" cy="2243240"/>
          </a:xfrm>
          <a:prstGeom prst="rect">
            <a:avLst/>
          </a:prstGeom>
          <a:noFill/>
          <a:ln/>
        </p:spPr>
        <p:txBody>
          <a:bodyPr wrap="square" lIns="0" tIns="0" rIns="0" bIns="0" rtlCol="0" anchor="t"/>
          <a:lstStyle/>
          <a:p>
            <a:r>
              <a:rPr lang="en-US" sz="1000" i="1" dirty="0">
                <a:latin typeface="Calibri" pitchFamily="34" charset="0"/>
                <a:ea typeface="Calibri" pitchFamily="34" charset="-122"/>
                <a:cs typeface="Calibri" pitchFamily="34" charset="-120"/>
              </a:rPr>
              <a:t>The primary dataset is HAM10000 (Human Against Machine with 10,000 training images), a publicly available collection of 10,015 </a:t>
            </a:r>
            <a:r>
              <a:rPr lang="en-US" sz="1000" i="1" dirty="0" err="1">
                <a:latin typeface="Calibri" pitchFamily="34" charset="0"/>
                <a:ea typeface="Calibri" pitchFamily="34" charset="-122"/>
                <a:cs typeface="Calibri" pitchFamily="34" charset="-120"/>
              </a:rPr>
              <a:t>dermatoscopic</a:t>
            </a:r>
            <a:r>
              <a:rPr lang="en-US" sz="1000" i="1" dirty="0">
                <a:latin typeface="Calibri" pitchFamily="34" charset="0"/>
                <a:ea typeface="Calibri" pitchFamily="34" charset="-122"/>
                <a:cs typeface="Calibri" pitchFamily="34" charset="-120"/>
              </a:rPr>
              <a:t> images across seven skin lesion classes including melanoma, melanocytic nevus, and basal cell carcinoma. A key limitation is demographic bias — the dataset is predominantly sourced from Austrian and Australian clinics, underrepresenting darker skin tones (Fitzpatrick types V–VI), which are most prevalent in the rural populations this tool serves. This risks reduced accuracy for the exact users it </a:t>
            </a:r>
            <a:r>
              <a:rPr lang="en-US" sz="1000" i="1" dirty="0" err="1">
                <a:latin typeface="Calibri" pitchFamily="34" charset="0"/>
                <a:ea typeface="Calibri" pitchFamily="34" charset="-122"/>
                <a:cs typeface="Calibri" pitchFamily="34" charset="-120"/>
              </a:rPr>
              <a:t>targets.The</a:t>
            </a:r>
            <a:r>
              <a:rPr lang="en-US" sz="1000" i="1" dirty="0">
                <a:latin typeface="Calibri" pitchFamily="34" charset="0"/>
                <a:ea typeface="Calibri" pitchFamily="34" charset="-122"/>
                <a:cs typeface="Calibri" pitchFamily="34" charset="-120"/>
              </a:rPr>
              <a:t> computer vision task is multi-class image classification using a custom-trained EfficientNetB0 CNN. For each uploaded photograph, the model outputs: a class label (lesion or wound type), a confidence score (0–100%), a severity score (Mild / Moderate / Severe), and a </a:t>
            </a:r>
            <a:r>
              <a:rPr lang="en-US" sz="1000" i="1" dirty="0" err="1">
                <a:latin typeface="Calibri" pitchFamily="34" charset="0"/>
                <a:ea typeface="Calibri" pitchFamily="34" charset="-122"/>
                <a:cs typeface="Calibri" pitchFamily="34" charset="-120"/>
              </a:rPr>
              <a:t>colour</a:t>
            </a:r>
            <a:r>
              <a:rPr lang="en-US" sz="1000" i="1" dirty="0">
                <a:latin typeface="Calibri" pitchFamily="34" charset="0"/>
                <a:ea typeface="Calibri" pitchFamily="34" charset="-122"/>
                <a:cs typeface="Calibri" pitchFamily="34" charset="-120"/>
              </a:rPr>
              <a:t>-coded referral flag (Green / Amber / Orange / Red) mapped directly to a plain-language action the health worker must take.</a:t>
            </a:r>
            <a:endParaRPr lang="en-US" sz="1000" i="1" dirty="0">
              <a:solidFill>
                <a:schemeClr val="bg1">
                  <a:lumMod val="50000"/>
                </a:schemeClr>
              </a:solidFill>
              <a:latin typeface="Calibri" pitchFamily="34" charset="0"/>
              <a:ea typeface="Calibri" pitchFamily="34" charset="-122"/>
              <a:cs typeface="Calibri" pitchFamily="34" charset="-120"/>
            </a:endParaRPr>
          </a:p>
        </p:txBody>
      </p:sp>
      <p:sp>
        <p:nvSpPr>
          <p:cNvPr id="33" name="Shape 31"/>
          <p:cNvSpPr/>
          <p:nvPr/>
        </p:nvSpPr>
        <p:spPr>
          <a:xfrm>
            <a:off x="1137259" y="3670720"/>
            <a:ext cx="7447573" cy="1274752"/>
          </a:xfrm>
          <a:prstGeom prst="rect">
            <a:avLst/>
          </a:prstGeom>
          <a:solidFill>
            <a:srgbClr val="FFFFFF"/>
          </a:solidFill>
          <a:ln w="12700">
            <a:solidFill>
              <a:srgbClr val="E5E0D6"/>
            </a:solidFill>
            <a:prstDash val="solid"/>
          </a:ln>
          <a:effectLst>
            <a:outerShdw blurRad="101600" dist="25400" dir="8400000" algn="bl" rotWithShape="0">
              <a:srgbClr val="000000">
                <a:alpha val="7000"/>
              </a:srgbClr>
            </a:outerShdw>
          </a:effectLst>
        </p:spPr>
      </p:sp>
      <p:sp>
        <p:nvSpPr>
          <p:cNvPr id="34" name="Shape 32"/>
          <p:cNvSpPr/>
          <p:nvPr/>
        </p:nvSpPr>
        <p:spPr>
          <a:xfrm>
            <a:off x="1245274" y="3732096"/>
            <a:ext cx="36000" cy="1152000"/>
          </a:xfrm>
          <a:prstGeom prst="rect">
            <a:avLst/>
          </a:prstGeom>
          <a:solidFill>
            <a:srgbClr val="B84422"/>
          </a:solidFill>
          <a:ln w="12700">
            <a:solidFill>
              <a:srgbClr val="B84422"/>
            </a:solidFill>
            <a:prstDash val="solid"/>
          </a:ln>
        </p:spPr>
      </p:sp>
      <p:sp>
        <p:nvSpPr>
          <p:cNvPr id="36" name="Text 34"/>
          <p:cNvSpPr/>
          <p:nvPr/>
        </p:nvSpPr>
        <p:spPr>
          <a:xfrm>
            <a:off x="1599541" y="3700811"/>
            <a:ext cx="5255170" cy="201168"/>
          </a:xfrm>
          <a:prstGeom prst="rect">
            <a:avLst/>
          </a:prstGeom>
          <a:noFill/>
          <a:ln/>
        </p:spPr>
        <p:txBody>
          <a:bodyPr wrap="square" lIns="0" tIns="0" rIns="0" bIns="0" rtlCol="0" anchor="ctr"/>
          <a:lstStyle/>
          <a:p>
            <a:r>
              <a:rPr lang="en-US" sz="1050" b="1" kern="0" spc="50" dirty="0">
                <a:solidFill>
                  <a:schemeClr val="tx1">
                    <a:lumMod val="65000"/>
                    <a:lumOff val="35000"/>
                  </a:schemeClr>
                </a:solidFill>
                <a:latin typeface="Calibri" pitchFamily="34" charset="0"/>
                <a:ea typeface="Calibri" pitchFamily="34" charset="-122"/>
                <a:cs typeface="Calibri" pitchFamily="34" charset="-120"/>
              </a:rPr>
              <a:t>ONE KEY TECHNICAL CHALLENGE  —  AND HOW YOU PLAN TO ADDRESS IT  </a:t>
            </a:r>
          </a:p>
        </p:txBody>
      </p:sp>
      <p:sp>
        <p:nvSpPr>
          <p:cNvPr id="37" name="Shape 35"/>
          <p:cNvSpPr/>
          <p:nvPr/>
        </p:nvSpPr>
        <p:spPr>
          <a:xfrm>
            <a:off x="1408661" y="4026461"/>
            <a:ext cx="7020000" cy="7315"/>
          </a:xfrm>
          <a:prstGeom prst="rect">
            <a:avLst/>
          </a:prstGeom>
          <a:solidFill>
            <a:srgbClr val="DDD5C8"/>
          </a:solidFill>
          <a:ln w="12700">
            <a:solidFill>
              <a:srgbClr val="DDD5C8"/>
            </a:solidFill>
            <a:prstDash val="solid"/>
          </a:ln>
        </p:spPr>
      </p:sp>
      <p:sp>
        <p:nvSpPr>
          <p:cNvPr id="38" name="Text 36"/>
          <p:cNvSpPr/>
          <p:nvPr/>
        </p:nvSpPr>
        <p:spPr>
          <a:xfrm>
            <a:off x="1384189" y="3870776"/>
            <a:ext cx="7200643" cy="785905"/>
          </a:xfrm>
          <a:prstGeom prst="rect">
            <a:avLst/>
          </a:prstGeom>
          <a:noFill/>
          <a:ln/>
        </p:spPr>
        <p:txBody>
          <a:bodyPr wrap="square" lIns="0" tIns="0" rIns="0" bIns="0" rtlCol="0" anchor="t"/>
          <a:lstStyle/>
          <a:p>
            <a:r>
              <a:rPr lang="en-US" sz="1000" i="1" dirty="0">
                <a:latin typeface="Calibri" pitchFamily="34" charset="0"/>
                <a:ea typeface="Calibri" pitchFamily="34" charset="-122"/>
                <a:cs typeface="Calibri" pitchFamily="34" charset="-120"/>
              </a:rPr>
              <a:t>The most significant challenge is domain shift: the training data — predominantly </a:t>
            </a:r>
            <a:r>
              <a:rPr lang="en-US" sz="1000" i="1" dirty="0" err="1">
                <a:latin typeface="Calibri" pitchFamily="34" charset="0"/>
                <a:ea typeface="Calibri" pitchFamily="34" charset="-122"/>
                <a:cs typeface="Calibri" pitchFamily="34" charset="-120"/>
              </a:rPr>
              <a:t>dermatoscopic</a:t>
            </a:r>
            <a:r>
              <a:rPr lang="en-US" sz="1000" i="1" dirty="0">
                <a:latin typeface="Calibri" pitchFamily="34" charset="0"/>
                <a:ea typeface="Calibri" pitchFamily="34" charset="-122"/>
                <a:cs typeface="Calibri" pitchFamily="34" charset="-120"/>
              </a:rPr>
              <a:t> images captured under controlled clinical lighting with professional equipment — differs substantially from photographs taken on basic smartphones under inconsistent natural light in rural field settings. A model trained on clean </a:t>
            </a:r>
            <a:r>
              <a:rPr lang="en-US" sz="1000" i="1" dirty="0" err="1">
                <a:latin typeface="Calibri" pitchFamily="34" charset="0"/>
                <a:ea typeface="Calibri" pitchFamily="34" charset="-122"/>
                <a:cs typeface="Calibri" pitchFamily="34" charset="-120"/>
              </a:rPr>
              <a:t>dermatoscope</a:t>
            </a:r>
            <a:r>
              <a:rPr lang="en-US" sz="1000" i="1" dirty="0">
                <a:latin typeface="Calibri" pitchFamily="34" charset="0"/>
                <a:ea typeface="Calibri" pitchFamily="34" charset="-122"/>
                <a:cs typeface="Calibri" pitchFamily="34" charset="-120"/>
              </a:rPr>
              <a:t> images will degrade sharply when presented with shadowed, blurred, or low-resolution field photos, producing overconfident misclassifications at precisely the moment accuracy matters </a:t>
            </a:r>
            <a:r>
              <a:rPr lang="en-US" sz="1000" i="1" dirty="0" err="1">
                <a:latin typeface="Calibri" pitchFamily="34" charset="0"/>
                <a:ea typeface="Calibri" pitchFamily="34" charset="-122"/>
                <a:cs typeface="Calibri" pitchFamily="34" charset="-120"/>
              </a:rPr>
              <a:t>most.The</a:t>
            </a:r>
            <a:r>
              <a:rPr lang="en-US" sz="1000" i="1" dirty="0">
                <a:latin typeface="Calibri" pitchFamily="34" charset="0"/>
                <a:ea typeface="Calibri" pitchFamily="34" charset="-122"/>
                <a:cs typeface="Calibri" pitchFamily="34" charset="-120"/>
              </a:rPr>
              <a:t> mitigation strategy is two-fold: first, aggressive training augmentation simulating real-world degradation — random brightness, blur, shadow overlays, and compression </a:t>
            </a:r>
            <a:r>
              <a:rPr lang="en-US" sz="1000" i="1" dirty="0" err="1">
                <a:latin typeface="Calibri" pitchFamily="34" charset="0"/>
                <a:ea typeface="Calibri" pitchFamily="34" charset="-122"/>
                <a:cs typeface="Calibri" pitchFamily="34" charset="-120"/>
              </a:rPr>
              <a:t>artefacts</a:t>
            </a:r>
            <a:r>
              <a:rPr lang="en-US" sz="1000" i="1" dirty="0">
                <a:latin typeface="Calibri" pitchFamily="34" charset="0"/>
                <a:ea typeface="Calibri" pitchFamily="34" charset="-122"/>
                <a:cs typeface="Calibri" pitchFamily="34" charset="-120"/>
              </a:rPr>
              <a:t>. Second, an image quality scorer gates inference, prompting the health worker to retake the photo before the model runs if sharpness or exposure falls below threshold.</a:t>
            </a:r>
            <a:endParaRPr lang="en-US" sz="1000" i="1" dirty="0">
              <a:solidFill>
                <a:schemeClr val="bg1">
                  <a:lumMod val="50000"/>
                </a:schemeClr>
              </a:solidFill>
              <a:latin typeface="Calibri" pitchFamily="34" charset="0"/>
              <a:ea typeface="Calibri" pitchFamily="34" charset="-122"/>
              <a:cs typeface="Calibri" pitchFamily="34" charset="-120"/>
            </a:endParaRPr>
          </a:p>
        </p:txBody>
      </p:sp>
      <p:sp>
        <p:nvSpPr>
          <p:cNvPr id="44" name="Text 42"/>
          <p:cNvSpPr/>
          <p:nvPr/>
        </p:nvSpPr>
        <p:spPr>
          <a:xfrm>
            <a:off x="1627632" y="4992624"/>
            <a:ext cx="7205472" cy="164592"/>
          </a:xfrm>
          <a:prstGeom prst="rect">
            <a:avLst/>
          </a:prstGeom>
          <a:noFill/>
          <a:ln/>
        </p:spPr>
        <p:txBody>
          <a:bodyPr wrap="square" lIns="0" tIns="0" rIns="0" bIns="0" rtlCol="0" anchor="ctr"/>
          <a:lstStyle/>
          <a:p>
            <a:pPr marL="0" indent="0" algn="ctr">
              <a:buNone/>
            </a:pPr>
            <a:r>
              <a:rPr lang="en-US" sz="750" dirty="0">
                <a:solidFill>
                  <a:srgbClr val="A8A8A8"/>
                </a:solidFill>
                <a:latin typeface="Calibri" pitchFamily="34" charset="0"/>
                <a:ea typeface="Calibri" pitchFamily="34" charset="-122"/>
                <a:cs typeface="Calibri" pitchFamily="34" charset="-120"/>
              </a:rPr>
              <a:t>Slide 2 of 2  ·  PeaceOfCode 2026 – Round 1  ·  nirvana@iitrpr.ac.in</a:t>
            </a:r>
            <a:endParaRPr lang="en-US" sz="750" dirty="0"/>
          </a:p>
        </p:txBody>
      </p:sp>
      <p:sp>
        <p:nvSpPr>
          <p:cNvPr id="40" name="Text 7"/>
          <p:cNvSpPr/>
          <p:nvPr/>
        </p:nvSpPr>
        <p:spPr>
          <a:xfrm>
            <a:off x="1020888" y="192024"/>
            <a:ext cx="1413126" cy="265176"/>
          </a:xfrm>
          <a:prstGeom prst="rect">
            <a:avLst/>
          </a:prstGeom>
          <a:noFill/>
          <a:ln/>
        </p:spPr>
        <p:txBody>
          <a:bodyPr wrap="square" lIns="0" tIns="0" rIns="0" bIns="0" rtlCol="0" anchor="ctr"/>
          <a:lstStyle/>
          <a:p>
            <a:r>
              <a:rPr lang="en-US" sz="1600" b="1" dirty="0">
                <a:solidFill>
                  <a:srgbClr val="1A1A1A"/>
                </a:solidFill>
                <a:latin typeface="Georgia" pitchFamily="34" charset="0"/>
                <a:ea typeface="Georgia" pitchFamily="34" charset="-122"/>
                <a:cs typeface="Georgia" pitchFamily="34" charset="-120"/>
              </a:rPr>
              <a:t>Solution</a:t>
            </a:r>
            <a:endParaRPr lang="en-US" sz="1600" dirty="0"/>
          </a:p>
        </p:txBody>
      </p:sp>
      <p:sp>
        <p:nvSpPr>
          <p:cNvPr id="42" name="Shape 10"/>
          <p:cNvSpPr/>
          <p:nvPr/>
        </p:nvSpPr>
        <p:spPr>
          <a:xfrm>
            <a:off x="1020888" y="635974"/>
            <a:ext cx="7812216" cy="10800"/>
          </a:xfrm>
          <a:prstGeom prst="rect">
            <a:avLst/>
          </a:prstGeom>
          <a:solidFill>
            <a:srgbClr val="DDD5C8"/>
          </a:solidFill>
          <a:ln w="12700">
            <a:solidFill>
              <a:srgbClr val="DDD5C8"/>
            </a:solidFill>
            <a:prstDash val="solid"/>
          </a:ln>
        </p:spPr>
      </p:sp>
      <p:sp>
        <p:nvSpPr>
          <p:cNvPr id="45" name="Text 9"/>
          <p:cNvSpPr/>
          <p:nvPr/>
        </p:nvSpPr>
        <p:spPr>
          <a:xfrm>
            <a:off x="7357588" y="402336"/>
            <a:ext cx="1438939" cy="164592"/>
          </a:xfrm>
          <a:prstGeom prst="rect">
            <a:avLst/>
          </a:prstGeom>
          <a:noFill/>
          <a:ln/>
        </p:spPr>
        <p:txBody>
          <a:bodyPr wrap="square" lIns="0" tIns="0" rIns="0" bIns="0" rtlCol="0" anchor="ctr"/>
          <a:lstStyle/>
          <a:p>
            <a:pPr marL="0" indent="0" algn="r">
              <a:buNone/>
            </a:pPr>
            <a:r>
              <a:rPr lang="en-US" sz="750" dirty="0">
                <a:solidFill>
                  <a:schemeClr val="bg1">
                    <a:lumMod val="50000"/>
                  </a:schemeClr>
                </a:solidFill>
                <a:latin typeface="Calibri" pitchFamily="34" charset="0"/>
                <a:ea typeface="Calibri" pitchFamily="34" charset="-122"/>
                <a:cs typeface="Calibri" pitchFamily="34" charset="-120"/>
              </a:rPr>
              <a:t>IIT Ropar  ·  AI Wellness Hackathon</a:t>
            </a:r>
            <a:endParaRPr lang="en-US" sz="750" dirty="0">
              <a:solidFill>
                <a:schemeClr val="bg1">
                  <a:lumMod val="50000"/>
                </a:schemeClr>
              </a:solidFill>
            </a:endParaRPr>
          </a:p>
        </p:txBody>
      </p:sp>
      <p:sp>
        <p:nvSpPr>
          <p:cNvPr id="48" name="Text 12"/>
          <p:cNvSpPr/>
          <p:nvPr/>
        </p:nvSpPr>
        <p:spPr>
          <a:xfrm>
            <a:off x="1176297" y="886386"/>
            <a:ext cx="256032" cy="201168"/>
          </a:xfrm>
          <a:prstGeom prst="rect">
            <a:avLst/>
          </a:prstGeom>
          <a:noFill/>
          <a:ln/>
        </p:spPr>
        <p:txBody>
          <a:bodyPr wrap="square" lIns="0" tIns="0" rIns="0" bIns="0" rtlCol="0" anchor="ctr"/>
          <a:lstStyle/>
          <a:p>
            <a:pPr marL="0" indent="0">
              <a:buNone/>
            </a:pPr>
            <a:r>
              <a:rPr lang="en-US" sz="1050" b="1" dirty="0">
                <a:solidFill>
                  <a:srgbClr val="B84422"/>
                </a:solidFill>
                <a:latin typeface="Calibri" pitchFamily="34" charset="0"/>
                <a:ea typeface="Calibri" pitchFamily="34" charset="-122"/>
                <a:cs typeface="Calibri" pitchFamily="34" charset="-120"/>
              </a:rPr>
              <a:t>01</a:t>
            </a:r>
            <a:endParaRPr lang="en-US" sz="1050" dirty="0"/>
          </a:p>
        </p:txBody>
      </p:sp>
      <p:sp>
        <p:nvSpPr>
          <p:cNvPr id="49" name="Text 13"/>
          <p:cNvSpPr/>
          <p:nvPr/>
        </p:nvSpPr>
        <p:spPr>
          <a:xfrm>
            <a:off x="1432328" y="886386"/>
            <a:ext cx="3300891" cy="201168"/>
          </a:xfrm>
          <a:prstGeom prst="rect">
            <a:avLst/>
          </a:prstGeom>
          <a:noFill/>
          <a:ln/>
        </p:spPr>
        <p:txBody>
          <a:bodyPr wrap="square" lIns="0" tIns="0" rIns="0" bIns="0" rtlCol="0" anchor="ctr"/>
          <a:lstStyle/>
          <a:p>
            <a:r>
              <a:rPr lang="en-US" sz="1050" b="1" kern="0" spc="50" dirty="0">
                <a:solidFill>
                  <a:schemeClr val="tx1">
                    <a:lumMod val="65000"/>
                    <a:lumOff val="35000"/>
                  </a:schemeClr>
                </a:solidFill>
                <a:latin typeface="Calibri" pitchFamily="34" charset="0"/>
                <a:ea typeface="Calibri" pitchFamily="34" charset="-122"/>
                <a:cs typeface="Calibri" pitchFamily="34" charset="-120"/>
              </a:rPr>
              <a:t>DATASET &amp; CV TASK</a:t>
            </a:r>
            <a:r>
              <a:rPr lang="en-US" sz="900" b="1" kern="0" spc="50" dirty="0">
                <a:solidFill>
                  <a:schemeClr val="tx1">
                    <a:lumMod val="65000"/>
                    <a:lumOff val="35000"/>
                  </a:schemeClr>
                </a:solidFill>
                <a:latin typeface="Calibri" pitchFamily="34" charset="0"/>
                <a:ea typeface="Calibri" pitchFamily="34" charset="-122"/>
                <a:cs typeface="Calibri" pitchFamily="34" charset="-120"/>
              </a:rPr>
              <a:t> </a:t>
            </a:r>
          </a:p>
        </p:txBody>
      </p:sp>
      <p:sp>
        <p:nvSpPr>
          <p:cNvPr id="52" name="Shape 14"/>
          <p:cNvSpPr/>
          <p:nvPr/>
        </p:nvSpPr>
        <p:spPr>
          <a:xfrm>
            <a:off x="1133219" y="1149224"/>
            <a:ext cx="3600000" cy="7315"/>
          </a:xfrm>
          <a:prstGeom prst="rect">
            <a:avLst/>
          </a:prstGeom>
          <a:solidFill>
            <a:srgbClr val="DDD5C8"/>
          </a:solidFill>
          <a:ln w="12700">
            <a:solidFill>
              <a:srgbClr val="DDD5C8"/>
            </a:solidFill>
            <a:prstDash val="solid"/>
          </a:ln>
        </p:spPr>
      </p:sp>
      <p:sp>
        <p:nvSpPr>
          <p:cNvPr id="53" name="Text 12"/>
          <p:cNvSpPr/>
          <p:nvPr/>
        </p:nvSpPr>
        <p:spPr>
          <a:xfrm>
            <a:off x="1384192" y="3700811"/>
            <a:ext cx="256032" cy="201168"/>
          </a:xfrm>
          <a:prstGeom prst="rect">
            <a:avLst/>
          </a:prstGeom>
          <a:noFill/>
          <a:ln/>
        </p:spPr>
        <p:txBody>
          <a:bodyPr wrap="square" lIns="0" tIns="0" rIns="0" bIns="0" rtlCol="0" anchor="ctr"/>
          <a:lstStyle/>
          <a:p>
            <a:pPr marL="0" indent="0">
              <a:buNone/>
            </a:pPr>
            <a:r>
              <a:rPr lang="en-US" sz="1050" b="1" dirty="0">
                <a:solidFill>
                  <a:srgbClr val="B84422"/>
                </a:solidFill>
                <a:latin typeface="Calibri" pitchFamily="34" charset="0"/>
                <a:ea typeface="Calibri" pitchFamily="34" charset="-122"/>
                <a:cs typeface="Calibri" pitchFamily="34" charset="-120"/>
              </a:rPr>
              <a:t>03</a:t>
            </a:r>
            <a:endParaRPr lang="en-US" sz="1050" dirty="0"/>
          </a:p>
        </p:txBody>
      </p:sp>
      <p:sp>
        <p:nvSpPr>
          <p:cNvPr id="9" name="TextBox 8">
            <a:extLst>
              <a:ext uri="{FF2B5EF4-FFF2-40B4-BE49-F238E27FC236}">
                <a16:creationId xmlns:a16="http://schemas.microsoft.com/office/drawing/2014/main" xmlns="" id="{4413D12D-9547-48F4-1E94-40689628F761}"/>
              </a:ext>
            </a:extLst>
          </p:cNvPr>
          <p:cNvSpPr txBox="1"/>
          <p:nvPr/>
        </p:nvSpPr>
        <p:spPr>
          <a:xfrm>
            <a:off x="3602216" y="61268"/>
            <a:ext cx="2666609" cy="561692"/>
          </a:xfrm>
          <a:prstGeom prst="rect">
            <a:avLst/>
          </a:prstGeom>
          <a:noFill/>
        </p:spPr>
        <p:txBody>
          <a:bodyPr wrap="square" rtlCol="0">
            <a:spAutoFit/>
          </a:bodyPr>
          <a:lstStyle/>
          <a:p>
            <a:r>
              <a:rPr lang="en-IN" sz="1050" b="1" kern="0" spc="50" dirty="0">
                <a:solidFill>
                  <a:schemeClr val="tx1">
                    <a:lumMod val="65000"/>
                    <a:lumOff val="35000"/>
                  </a:schemeClr>
                </a:solidFill>
                <a:latin typeface="Calibri" pitchFamily="34" charset="0"/>
                <a:ea typeface="Calibri" pitchFamily="34" charset="-122"/>
                <a:cs typeface="Calibri" pitchFamily="34" charset="-120"/>
              </a:rPr>
              <a:t>Video</a:t>
            </a:r>
            <a:r>
              <a:rPr lang="en-IN" sz="1000" b="1" i="1" kern="0" spc="50" dirty="0">
                <a:solidFill>
                  <a:schemeClr val="bg1">
                    <a:lumMod val="50000"/>
                  </a:schemeClr>
                </a:solidFill>
                <a:latin typeface="Calibri" pitchFamily="34" charset="0"/>
                <a:ea typeface="Calibri" pitchFamily="34" charset="-122"/>
                <a:cs typeface="Calibri" pitchFamily="34" charset="-120"/>
              </a:rPr>
              <a:t> </a:t>
            </a:r>
            <a:r>
              <a:rPr lang="en-IN" sz="1050" b="1" kern="0" spc="50" dirty="0">
                <a:solidFill>
                  <a:schemeClr val="tx1">
                    <a:lumMod val="65000"/>
                    <a:lumOff val="35000"/>
                  </a:schemeClr>
                </a:solidFill>
                <a:latin typeface="Calibri" pitchFamily="34" charset="0"/>
                <a:ea typeface="Calibri" pitchFamily="34" charset="-122"/>
                <a:cs typeface="Calibri" pitchFamily="34" charset="-120"/>
              </a:rPr>
              <a:t>Link</a:t>
            </a:r>
            <a:r>
              <a:rPr lang="en-IN" sz="1000" b="1" i="1" kern="0" spc="50" dirty="0">
                <a:solidFill>
                  <a:schemeClr val="bg1">
                    <a:lumMod val="50000"/>
                  </a:schemeClr>
                </a:solidFill>
                <a:latin typeface="Calibri" pitchFamily="34" charset="0"/>
                <a:ea typeface="Calibri" pitchFamily="34" charset="-122"/>
                <a:cs typeface="Calibri" pitchFamily="34" charset="-120"/>
              </a:rPr>
              <a:t> </a:t>
            </a:r>
            <a:r>
              <a:rPr lang="en-US" sz="800" b="1" kern="0" spc="50" dirty="0">
                <a:solidFill>
                  <a:schemeClr val="tx1">
                    <a:lumMod val="65000"/>
                    <a:lumOff val="35000"/>
                  </a:schemeClr>
                </a:solidFill>
                <a:latin typeface="Calibri" pitchFamily="34" charset="0"/>
                <a:ea typeface="Calibri" pitchFamily="34" charset="-122"/>
                <a:cs typeface="Calibri" pitchFamily="34" charset="-120"/>
              </a:rPr>
              <a:t> </a:t>
            </a:r>
          </a:p>
          <a:p>
            <a:r>
              <a:rPr lang="en-US" sz="1000" i="1" dirty="0">
                <a:solidFill>
                  <a:schemeClr val="bg1">
                    <a:lumMod val="50000"/>
                  </a:schemeClr>
                </a:solidFill>
              </a:rPr>
              <a:t>https://drive.google.com/file/d/110XPC_LeQ89njMjFstPrkozfhmZL_ktt/view?usp=drivesdk</a:t>
            </a:r>
            <a:endParaRPr lang="en-US" sz="1000" i="1" dirty="0">
              <a:solidFill>
                <a:schemeClr val="bg1">
                  <a:lumMod val="50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TotalTime>
  <Words>851</Words>
  <Application>Microsoft Office PowerPoint</Application>
  <PresentationFormat>On-screen Show (16:9)</PresentationFormat>
  <Paragraphs>43</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PeaceOfCode 2026 – Round 1 Submission Template</dc:title>
  <dc:subject>PptxGenJS Presentation</dc:subject>
  <dc:creator>PptxGenJS</dc:creator>
  <cp:lastModifiedBy>F17</cp:lastModifiedBy>
  <cp:revision>25</cp:revision>
  <dcterms:created xsi:type="dcterms:W3CDTF">2026-03-20T20:46:12Z</dcterms:created>
  <dcterms:modified xsi:type="dcterms:W3CDTF">2026-03-27T17:59:06Z</dcterms:modified>
</cp:coreProperties>
</file>